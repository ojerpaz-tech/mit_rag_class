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handoutMasterIdLst>
    <p:handoutMasterId r:id="rId15"/>
  </p:handoutMasterIdLst>
  <p:sldIdLst>
    <p:sldId id="256" r:id="rId2"/>
    <p:sldId id="257" r:id="rId3"/>
    <p:sldId id="258" r:id="rId4"/>
    <p:sldId id="259" r:id="rId5"/>
    <p:sldId id="264" r:id="rId6"/>
    <p:sldId id="260" r:id="rId7"/>
    <p:sldId id="261" r:id="rId8"/>
    <p:sldId id="262" r:id="rId9"/>
    <p:sldId id="266" r:id="rId10"/>
    <p:sldId id="267" r:id="rId11"/>
    <p:sldId id="265" r:id="rId12"/>
    <p:sldId id="263"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jxgbYjccChfboh+PxKghejRKdfE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1F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277F1-729D-4533-9937-95B36D51CB5B}" v="2" dt="2026-08-06T07:05:58.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814" autoAdjust="0"/>
    <p:restoredTop sz="96794" autoAdjust="0"/>
  </p:normalViewPr>
  <p:slideViewPr>
    <p:cSldViewPr snapToGrid="0">
      <p:cViewPr varScale="1">
        <p:scale>
          <a:sx n="129" d="100"/>
          <a:sy n="129" d="100"/>
        </p:scale>
        <p:origin x="60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074321-FF03-381D-1907-E6494B7624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D8AC16C-92DC-7009-28A5-C36D04A8BD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03FE05-9715-4C65-B32C-49861780AC23}" type="datetimeFigureOut">
              <a:rPr lang="en-US" smtClean="0"/>
              <a:t>10/15/2026</a:t>
            </a:fld>
            <a:endParaRPr lang="en-US"/>
          </a:p>
        </p:txBody>
      </p:sp>
      <p:sp>
        <p:nvSpPr>
          <p:cNvPr id="4" name="Footer Placeholder 3">
            <a:extLst>
              <a:ext uri="{FF2B5EF4-FFF2-40B4-BE49-F238E27FC236}">
                <a16:creationId xmlns:a16="http://schemas.microsoft.com/office/drawing/2014/main" id="{13AAC4D0-E983-9CB5-2D48-964025CE981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a:t>
            </a:r>
          </a:p>
        </p:txBody>
      </p:sp>
      <p:sp>
        <p:nvSpPr>
          <p:cNvPr id="5" name="Slide Number Placeholder 4">
            <a:extLst>
              <a:ext uri="{FF2B5EF4-FFF2-40B4-BE49-F238E27FC236}">
                <a16:creationId xmlns:a16="http://schemas.microsoft.com/office/drawing/2014/main" id="{909CB1B2-5AEA-B233-0236-516A532E94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D3AB80-0FF2-46AA-B402-84FE8706350E}" type="slidenum">
              <a:rPr lang="en-US" smtClean="0"/>
              <a:t>‹#›</a:t>
            </a:fld>
            <a:endParaRPr lang="en-US"/>
          </a:p>
        </p:txBody>
      </p:sp>
    </p:spTree>
    <p:extLst>
      <p:ext uri="{BB962C8B-B14F-4D97-AF65-F5344CB8AC3E}">
        <p14:creationId xmlns:p14="http://schemas.microsoft.com/office/powerpoint/2010/main" val="116421457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a:t>
            </a:r>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2" name="Google Shape;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Footer Placeholder 1">
            <a:extLst>
              <a:ext uri="{FF2B5EF4-FFF2-40B4-BE49-F238E27FC236}">
                <a16:creationId xmlns:a16="http://schemas.microsoft.com/office/drawing/2014/main" id="{15D12D4B-A513-0DEA-7E10-881489A69DB7}"/>
              </a:ext>
            </a:extLst>
          </p:cNvPr>
          <p:cNvSpPr>
            <a:spLocks noGrp="1"/>
          </p:cNvSpPr>
          <p:nvPr>
            <p:ph type="ftr" idx="11"/>
          </p:nvPr>
        </p:nvSpPr>
        <p:spPr/>
        <p:txBody>
          <a:bodyPr/>
          <a:lstStyle/>
          <a:p>
            <a:r>
              <a:rPr lang="en-US"/>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Footer Placeholder 1">
            <a:extLst>
              <a:ext uri="{FF2B5EF4-FFF2-40B4-BE49-F238E27FC236}">
                <a16:creationId xmlns:a16="http://schemas.microsoft.com/office/drawing/2014/main" id="{505F3754-D90E-E5D5-07C7-696739E619E5}"/>
              </a:ext>
            </a:extLst>
          </p:cNvPr>
          <p:cNvSpPr>
            <a:spLocks noGrp="1"/>
          </p:cNvSpPr>
          <p:nvPr>
            <p:ph type="ftr" idx="11"/>
          </p:nvPr>
        </p:nvSpPr>
        <p:spPr/>
        <p:txBody>
          <a:bodyPr/>
          <a:lstStyle/>
          <a:p>
            <a:r>
              <a:rPr lang="en-US"/>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Footer Placeholder 1">
            <a:extLst>
              <a:ext uri="{FF2B5EF4-FFF2-40B4-BE49-F238E27FC236}">
                <a16:creationId xmlns:a16="http://schemas.microsoft.com/office/drawing/2014/main" id="{E5BD2531-B251-003E-15AA-1F10C353E7DE}"/>
              </a:ext>
            </a:extLst>
          </p:cNvPr>
          <p:cNvSpPr>
            <a:spLocks noGrp="1"/>
          </p:cNvSpPr>
          <p:nvPr>
            <p:ph type="ftr" idx="11"/>
          </p:nvPr>
        </p:nvSpPr>
        <p:spPr/>
        <p:txBody>
          <a:bodyPr/>
          <a:lstStyle/>
          <a:p>
            <a:r>
              <a:rPr lang="en-US"/>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Aft>
                <a:spcPts val="800"/>
              </a:spcAft>
              <a:buNone/>
            </a:pPr>
            <a:r>
              <a:rPr lang="en-US" sz="1200" b="1" kern="100" dirty="0">
                <a:latin typeface="Calibri" panose="020F0502020204030204" pitchFamily="34" charset="0"/>
                <a:ea typeface="Calibri" panose="020F0502020204030204" pitchFamily="34" charset="0"/>
                <a:cs typeface="Times New Roman" panose="02020603050405020304" pitchFamily="18" charset="0"/>
              </a:rPr>
              <a:t>High-Level Architecture</a:t>
            </a:r>
          </a:p>
          <a:p>
            <a:pPr marL="0" marR="0">
              <a:lnSpc>
                <a:spcPct val="115000"/>
              </a:lnSpc>
              <a:spcAft>
                <a:spcPts val="800"/>
              </a:spcAft>
              <a:buNone/>
            </a:pPr>
            <a:r>
              <a:rPr lang="en-US" sz="1200" kern="100" dirty="0">
                <a:latin typeface="Calibri" panose="020F0502020204030204" pitchFamily="34" charset="0"/>
                <a:ea typeface="Calibri" panose="020F0502020204030204" pitchFamily="34" charset="0"/>
                <a:cs typeface="Times New Roman" panose="02020603050405020304" pitchFamily="18" charset="0"/>
              </a:rPr>
              <a:t>My system has two stages. First, an offline indexing stage processes research-paper PDFs, extracts and cleans their text, divides it into overlapping chunks, and indexes those chunks for search. Second, an online question-answering stage retrieves relevant chunks, gives them to a language model as evidence, and generates a cited response.</a:t>
            </a:r>
          </a:p>
          <a:p>
            <a:pPr marL="0" marR="0">
              <a:lnSpc>
                <a:spcPct val="115000"/>
              </a:lnSpc>
              <a:spcAft>
                <a:spcPts val="800"/>
              </a:spcAft>
              <a:buNone/>
            </a:pPr>
            <a:r>
              <a:rPr lang="en-US" sz="1200" kern="100" dirty="0">
                <a:latin typeface="Calibri" panose="020F0502020204030204" pitchFamily="34" charset="0"/>
                <a:ea typeface="Calibri" panose="020F0502020204030204" pitchFamily="34" charset="0"/>
                <a:cs typeface="Times New Roman" panose="02020603050405020304" pitchFamily="18" charset="0"/>
              </a:rPr>
              <a:t> </a:t>
            </a:r>
            <a:r>
              <a:rPr lang="en-US" sz="1200" b="1" kern="100" dirty="0">
                <a:latin typeface="Calibri" panose="020F0502020204030204" pitchFamily="34" charset="0"/>
                <a:ea typeface="Calibri" panose="020F0502020204030204" pitchFamily="34" charset="0"/>
                <a:cs typeface="Times New Roman" panose="02020603050405020304" pitchFamily="18" charset="0"/>
              </a:rPr>
              <a:t>Code example: </a:t>
            </a:r>
            <a:r>
              <a:rPr lang="en-US" sz="1200" kern="100" dirty="0" err="1">
                <a:latin typeface="Calibri" panose="020F0502020204030204" pitchFamily="34" charset="0"/>
                <a:ea typeface="Calibri" panose="020F0502020204030204" pitchFamily="34" charset="0"/>
                <a:cs typeface="Times New Roman" panose="02020603050405020304" pitchFamily="18" charset="0"/>
              </a:rPr>
              <a:t>extract_pdf_chunks</a:t>
            </a:r>
            <a:r>
              <a:rPr lang="en-US" sz="1200" kern="100" dirty="0">
                <a:latin typeface="Calibri" panose="020F0502020204030204" pitchFamily="34" charset="0"/>
                <a:ea typeface="Calibri" panose="020F0502020204030204" pitchFamily="34" charset="0"/>
                <a:cs typeface="Times New Roman" panose="02020603050405020304" pitchFamily="18" charset="0"/>
              </a:rPr>
              <a:t>() handles PDF text and chunk creation; </a:t>
            </a:r>
            <a:r>
              <a:rPr lang="en-US" sz="1200" kern="100" dirty="0" err="1">
                <a:latin typeface="Calibri" panose="020F0502020204030204" pitchFamily="34" charset="0"/>
                <a:ea typeface="Calibri" panose="020F0502020204030204" pitchFamily="34" charset="0"/>
                <a:cs typeface="Times New Roman" panose="02020603050405020304" pitchFamily="18" charset="0"/>
              </a:rPr>
              <a:t>build_or_load_db</a:t>
            </a:r>
            <a:r>
              <a:rPr lang="en-US" sz="1200" kern="100" dirty="0">
                <a:latin typeface="Calibri" panose="020F0502020204030204" pitchFamily="34" charset="0"/>
                <a:ea typeface="Calibri" panose="020F0502020204030204" pitchFamily="34" charset="0"/>
                <a:cs typeface="Times New Roman" panose="02020603050405020304" pitchFamily="18" charset="0"/>
              </a:rPr>
              <a:t>() creates or loads the Chroma vector database. The app also builds a BM25 keyword index when it starts.</a:t>
            </a:r>
          </a:p>
          <a:p>
            <a:pPr marL="0" marR="0">
              <a:lnSpc>
                <a:spcPct val="115000"/>
              </a:lnSpc>
              <a:spcAft>
                <a:spcPts val="800"/>
              </a:spcAft>
              <a:buNone/>
            </a:pPr>
            <a:r>
              <a:rPr lang="en-US" sz="1200" b="1" kern="100" dirty="0">
                <a:latin typeface="Calibri" panose="020F0502020204030204" pitchFamily="34" charset="0"/>
                <a:ea typeface="Calibri" panose="020F0502020204030204" pitchFamily="34" charset="0"/>
                <a:cs typeface="Times New Roman" panose="02020603050405020304" pitchFamily="18" charset="0"/>
              </a:rPr>
              <a:t> Major Workflow Components</a:t>
            </a:r>
          </a:p>
          <a:p>
            <a:pPr marL="0" marR="0">
              <a:lnSpc>
                <a:spcPct val="115000"/>
              </a:lnSpc>
              <a:spcAft>
                <a:spcPts val="800"/>
              </a:spcAft>
              <a:buNone/>
            </a:pPr>
            <a:r>
              <a:rPr lang="en-US" sz="1200" kern="100" dirty="0">
                <a:latin typeface="Calibri" panose="020F0502020204030204" pitchFamily="34" charset="0"/>
                <a:ea typeface="Calibri" panose="020F0502020204030204" pitchFamily="34" charset="0"/>
                <a:cs typeface="Times New Roman" panose="02020603050405020304" pitchFamily="18" charset="0"/>
              </a:rPr>
              <a:t>The main components are PDF processing, chunking and metadata, the vector and BM25 indexes, the hybrid retriever, the LangGraph planner, and the answer model. The planner can search, load passages from a named paper, ask for clarification, or decide that there is enough evidence to answer.</a:t>
            </a:r>
          </a:p>
          <a:p>
            <a:pPr marL="0" marR="0">
              <a:lnSpc>
                <a:spcPct val="115000"/>
              </a:lnSpc>
              <a:spcAft>
                <a:spcPts val="800"/>
              </a:spcAft>
              <a:buNone/>
            </a:pPr>
            <a:r>
              <a:rPr lang="en-US" sz="1200" kern="100" dirty="0">
                <a:latin typeface="Calibri" panose="020F0502020204030204" pitchFamily="34" charset="0"/>
                <a:ea typeface="Calibri" panose="020F0502020204030204" pitchFamily="34" charset="0"/>
                <a:cs typeface="Times New Roman" panose="02020603050405020304" pitchFamily="18" charset="0"/>
              </a:rPr>
              <a:t> </a:t>
            </a:r>
            <a:r>
              <a:rPr lang="en-US" sz="1200" b="1" kern="100" dirty="0">
                <a:latin typeface="Calibri" panose="020F0502020204030204" pitchFamily="34" charset="0"/>
                <a:ea typeface="Calibri" panose="020F0502020204030204" pitchFamily="34" charset="0"/>
                <a:cs typeface="Times New Roman" panose="02020603050405020304" pitchFamily="18" charset="0"/>
              </a:rPr>
              <a:t>Code example: </a:t>
            </a:r>
            <a:r>
              <a:rPr lang="en-US" sz="1200" kern="100" dirty="0" err="1">
                <a:latin typeface="Calibri" panose="020F0502020204030204" pitchFamily="34" charset="0"/>
                <a:ea typeface="Calibri" panose="020F0502020204030204" pitchFamily="34" charset="0"/>
                <a:cs typeface="Times New Roman" panose="02020603050405020304" pitchFamily="18" charset="0"/>
              </a:rPr>
              <a:t>AgentState</a:t>
            </a:r>
            <a:r>
              <a:rPr lang="en-US" sz="1200" kern="100" dirty="0">
                <a:latin typeface="Calibri" panose="020F0502020204030204" pitchFamily="34" charset="0"/>
                <a:ea typeface="Calibri" panose="020F0502020204030204" pitchFamily="34" charset="0"/>
                <a:cs typeface="Times New Roman" panose="02020603050405020304" pitchFamily="18" charset="0"/>
              </a:rPr>
              <a:t> tracks conversation history, executed queries, retrieved chunks, and the agent’s iteration count. The graph routes among retrieve, </a:t>
            </a:r>
            <a:r>
              <a:rPr lang="en-US" sz="1200" kern="100" dirty="0" err="1">
                <a:latin typeface="Calibri" panose="020F0502020204030204" pitchFamily="34" charset="0"/>
                <a:ea typeface="Calibri" panose="020F0502020204030204" pitchFamily="34" charset="0"/>
                <a:cs typeface="Times New Roman" panose="02020603050405020304" pitchFamily="18" charset="0"/>
              </a:rPr>
              <a:t>by_paper</a:t>
            </a:r>
            <a:r>
              <a:rPr lang="en-US" sz="1200" kern="100" dirty="0">
                <a:latin typeface="Calibri" panose="020F0502020204030204" pitchFamily="34" charset="0"/>
                <a:ea typeface="Calibri" panose="020F0502020204030204" pitchFamily="34" charset="0"/>
                <a:cs typeface="Times New Roman" panose="02020603050405020304" pitchFamily="18" charset="0"/>
              </a:rPr>
              <a:t>, clarify, and answer.</a:t>
            </a:r>
          </a:p>
          <a:p>
            <a:pPr marL="0" marR="0">
              <a:lnSpc>
                <a:spcPct val="115000"/>
              </a:lnSpc>
              <a:spcAft>
                <a:spcPts val="800"/>
              </a:spcAft>
              <a:buNone/>
            </a:pPr>
            <a:r>
              <a:rPr lang="en-US" sz="1200" kern="100" dirty="0">
                <a:latin typeface="Calibri" panose="020F0502020204030204" pitchFamily="34" charset="0"/>
                <a:ea typeface="Calibri" panose="020F0502020204030204" pitchFamily="34" charset="0"/>
                <a:cs typeface="Times New Roman" panose="02020603050405020304" pitchFamily="18" charset="0"/>
              </a:rPr>
              <a:t> </a:t>
            </a:r>
            <a:r>
              <a:rPr lang="en-US" sz="1200" b="1" kern="100" dirty="0">
                <a:latin typeface="Calibri" panose="020F0502020204030204" pitchFamily="34" charset="0"/>
                <a:ea typeface="Calibri" panose="020F0502020204030204" pitchFamily="34" charset="0"/>
                <a:cs typeface="Times New Roman" panose="02020603050405020304" pitchFamily="18" charset="0"/>
              </a:rPr>
              <a:t>How Retrieval, Reasoning, and Generation Work Together</a:t>
            </a:r>
          </a:p>
          <a:p>
            <a:pPr marL="0" marR="0">
              <a:lnSpc>
                <a:spcPct val="115000"/>
              </a:lnSpc>
              <a:spcAft>
                <a:spcPts val="800"/>
              </a:spcAft>
              <a:buNone/>
            </a:pPr>
            <a:r>
              <a:rPr lang="en-US" sz="1200" kern="100" dirty="0">
                <a:latin typeface="Calibri" panose="020F0502020204030204" pitchFamily="34" charset="0"/>
                <a:ea typeface="Calibri" panose="020F0502020204030204" pitchFamily="34" charset="0"/>
                <a:cs typeface="Times New Roman" panose="02020603050405020304" pitchFamily="18" charset="0"/>
              </a:rPr>
              <a:t>When a user asks a question, retrieval finds candidate passages in two ways: BM25 searches for matching terms, while vector search finds semantically related text. The system combines their normalized scores, then the planner considers the question and evidence and may request additional searches. Once it decides there is enough evidence, the answer model generates a response using the retrieved passages and is prompted to cite paper titles and pages.</a:t>
            </a:r>
          </a:p>
          <a:p>
            <a:pPr marL="0" marR="0">
              <a:lnSpc>
                <a:spcPct val="115000"/>
              </a:lnSpc>
              <a:spcAft>
                <a:spcPts val="800"/>
              </a:spcAft>
              <a:buNone/>
            </a:pPr>
            <a:r>
              <a:rPr lang="en-US" sz="1200" kern="100" dirty="0">
                <a:latin typeface="Calibri" panose="020F0502020204030204" pitchFamily="34" charset="0"/>
                <a:ea typeface="Calibri" panose="020F0502020204030204" pitchFamily="34" charset="0"/>
                <a:cs typeface="Times New Roman" panose="02020603050405020304" pitchFamily="18" charset="0"/>
              </a:rPr>
              <a:t> </a:t>
            </a:r>
            <a:r>
              <a:rPr lang="en-US" sz="1200" b="1" kern="100" dirty="0">
                <a:latin typeface="Calibri" panose="020F0502020204030204" pitchFamily="34" charset="0"/>
                <a:ea typeface="Calibri" panose="020F0502020204030204" pitchFamily="34" charset="0"/>
                <a:cs typeface="Times New Roman" panose="02020603050405020304" pitchFamily="18" charset="0"/>
              </a:rPr>
              <a:t>Code example: </a:t>
            </a:r>
            <a:r>
              <a:rPr lang="en-US" sz="1200" kern="100" dirty="0">
                <a:latin typeface="Calibri" panose="020F0502020204030204" pitchFamily="34" charset="0"/>
                <a:ea typeface="Calibri" panose="020F0502020204030204" pitchFamily="34" charset="0"/>
                <a:cs typeface="Times New Roman" panose="02020603050405020304" pitchFamily="18" charset="0"/>
              </a:rPr>
              <a:t>BM25 and vector scores each have a weight of 0.5. The agent can run for up to five iterations, and the answer prompt receives up to 12 chunks. The code requests citations, but it does not independently verify them.</a:t>
            </a:r>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4</a:t>
            </a:fld>
            <a:endParaRPr lang="en-IN" sz="1200" b="0" i="0" u="none" strike="noStrike" cap="none">
              <a:solidFill>
                <a:schemeClr val="dk1"/>
              </a:solidFill>
              <a:latin typeface="Calibri"/>
              <a:ea typeface="Calibri"/>
              <a:cs typeface="Calibri"/>
              <a:sym typeface="Calibri"/>
            </a:endParaRPr>
          </a:p>
        </p:txBody>
      </p:sp>
      <p:sp>
        <p:nvSpPr>
          <p:cNvPr id="5" name="Footer Placeholder 4">
            <a:extLst>
              <a:ext uri="{FF2B5EF4-FFF2-40B4-BE49-F238E27FC236}">
                <a16:creationId xmlns:a16="http://schemas.microsoft.com/office/drawing/2014/main" id="{EB9030A7-4C35-A682-B08D-D5C9266CF537}"/>
              </a:ext>
            </a:extLst>
          </p:cNvPr>
          <p:cNvSpPr>
            <a:spLocks noGrp="1"/>
          </p:cNvSpPr>
          <p:nvPr>
            <p:ph type="ftr" idx="11"/>
          </p:nvPr>
        </p:nvSpPr>
        <p:spPr/>
        <p:txBody>
          <a:bodyPr/>
          <a:lstStyle/>
          <a:p>
            <a:r>
              <a:rPr lang="en-US"/>
              <a:t>#</a:t>
            </a:r>
          </a:p>
        </p:txBody>
      </p:sp>
    </p:spTree>
    <p:extLst>
      <p:ext uri="{BB962C8B-B14F-4D97-AF65-F5344CB8AC3E}">
        <p14:creationId xmlns:p14="http://schemas.microsoft.com/office/powerpoint/2010/main" val="3637222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Architecture</a:t>
            </a:r>
          </a:p>
          <a:p>
            <a:r>
              <a:rPr lang="en-US" dirty="0" err="1"/>
              <a:t>extract_pdf_chunks</a:t>
            </a:r>
            <a:r>
              <a:rPr lang="en-US" dirty="0"/>
              <a:t>() applies this to each PDF page and stores each chunk with its paper title, filename, and page number. </a:t>
            </a:r>
            <a:r>
              <a:rPr lang="en-US" dirty="0" err="1"/>
              <a:t>build_or_load_db</a:t>
            </a:r>
            <a:r>
              <a:rPr lang="en-US" dirty="0"/>
              <a:t>() creates or loads the Chroma vector database. The app also builds a BM25 keyword index from the chunks.</a:t>
            </a:r>
          </a:p>
          <a:p>
            <a:r>
              <a:rPr lang="en-US" dirty="0"/>
              <a:t> </a:t>
            </a:r>
          </a:p>
          <a:p>
            <a:r>
              <a:rPr lang="en-US" dirty="0"/>
              <a:t>Example outcome: A PDF page becomes one or more searchable chunks. Each chunk retains metadata such as its source paper and page, so the system can provide a page citation later.</a:t>
            </a:r>
          </a:p>
          <a:p>
            <a:endParaRPr lang="en-US" dirty="0"/>
          </a:p>
          <a:p>
            <a:endParaRPr lang="en-US" dirty="0"/>
          </a:p>
          <a:p>
            <a:endParaRPr lang="en-US" dirty="0"/>
          </a:p>
          <a:p>
            <a:r>
              <a:rPr lang="en-US" dirty="0"/>
              <a:t>Major Workflow Components</a:t>
            </a:r>
          </a:p>
          <a:p>
            <a:r>
              <a:rPr lang="en-US" dirty="0"/>
              <a:t>he LangGraph planner can route to retrieve, </a:t>
            </a:r>
            <a:r>
              <a:rPr lang="en-US" dirty="0" err="1"/>
              <a:t>by_paper</a:t>
            </a:r>
            <a:r>
              <a:rPr lang="en-US" dirty="0"/>
              <a:t>, clarify, or </a:t>
            </a:r>
            <a:r>
              <a:rPr lang="en-US" dirty="0" err="1"/>
              <a:t>answer.Example</a:t>
            </a:r>
            <a:r>
              <a:rPr lang="en-US" dirty="0"/>
              <a:t> outcome from a live run: When asked about the main contribution of The Sketching Approach to Program Synthesis, the planner selected </a:t>
            </a:r>
            <a:r>
              <a:rPr lang="en-US" dirty="0" err="1"/>
              <a:t>by_paper</a:t>
            </a:r>
            <a:r>
              <a:rPr lang="en-US" dirty="0"/>
              <a:t>, loaded passages for that paper, then selected </a:t>
            </a:r>
          </a:p>
          <a:p>
            <a:endParaRPr lang="en-US" dirty="0"/>
          </a:p>
          <a:p>
            <a:endParaRPr lang="en-US" dirty="0"/>
          </a:p>
          <a:p>
            <a:endParaRPr lang="en-US" dirty="0"/>
          </a:p>
          <a:p>
            <a:r>
              <a:rPr lang="en-US" dirty="0"/>
              <a:t>How Retrieval, Reasoning, and Generation Work Together</a:t>
            </a:r>
          </a:p>
          <a:p>
            <a:r>
              <a:rPr lang="en-US" dirty="0"/>
              <a:t>The weights are set to 0.5 for BM25 and 0.5 for vector search. The planner can request additional retrieval, with a limit of five iterations; the answer prompt receives up to 12 </a:t>
            </a:r>
            <a:r>
              <a:rPr lang="en-US" dirty="0" err="1"/>
              <a:t>chunks.Example</a:t>
            </a:r>
            <a:r>
              <a:rPr lang="en-US" dirty="0"/>
              <a:t> question used in the live </a:t>
            </a:r>
            <a:r>
              <a:rPr lang="en-US" dirty="0" err="1"/>
              <a:t>run:Quote</a:t>
            </a:r>
            <a:r>
              <a:rPr lang="en-US" dirty="0"/>
              <a:t> the first sentence of the abstract of The Sketching Approach to Program </a:t>
            </a:r>
            <a:r>
              <a:rPr lang="en-US" dirty="0" err="1"/>
              <a:t>Synthesis.The</a:t>
            </a:r>
            <a:r>
              <a:rPr lang="en-US" dirty="0"/>
              <a:t> planner chose retrieve, searched for relevant passages, and the answer model </a:t>
            </a:r>
            <a:r>
              <a:rPr lang="en-US" dirty="0" err="1"/>
              <a:t>returned:“Sketching</a:t>
            </a:r>
            <a:r>
              <a:rPr lang="en-US" dirty="0"/>
              <a:t> is a new form of localized software synthesis that aims to bridge the gap between a programmer’s high-level insights about a problem and the computer’s ability to manage low-level details” (SOURCE 1, “The Sketching Approach to Program Synthesis,” page 1).This shows the full path: question → retrieval → planner → answer with citation. The code prompts the model to cite sources, but it does not independently verify the citation against the PDF</a:t>
            </a:r>
          </a:p>
          <a:p>
            <a:endParaRPr lang="en-US" dirty="0"/>
          </a:p>
          <a:p>
            <a:r>
              <a:rPr lang="en-US" dirty="0"/>
              <a:t>Specific-paper search: “In The Sketching Approach to Program Synthesis, what is a sketch, what does the programmer provide, and what does the synthesizer complete? Cite the paper title and </a:t>
            </a:r>
            <a:r>
              <a:rPr lang="en-US" dirty="0" err="1"/>
              <a:t>page.”This</a:t>
            </a:r>
            <a:r>
              <a:rPr lang="en-US" dirty="0"/>
              <a:t> tests whether PDF text was indexed into searchable chunks and whether the page metadata supports a traceable </a:t>
            </a:r>
            <a:r>
              <a:rPr lang="en-US" dirty="0" err="1"/>
              <a:t>citation.Collection</a:t>
            </a:r>
            <a:r>
              <a:rPr lang="en-US" dirty="0"/>
              <a:t>-wide comparison: “Compare how different papers in the collection define program synthesis. Cite each paper and page you </a:t>
            </a:r>
            <a:r>
              <a:rPr lang="en-US" dirty="0" err="1"/>
              <a:t>use.”This</a:t>
            </a:r>
            <a:r>
              <a:rPr lang="en-US" dirty="0"/>
              <a:t> tests keyword and semantic retrieval across papers, followed by the agent’s evidence gathering and citation-supported answer generation.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5</a:t>
            </a:fld>
            <a:endParaRPr lang="en-IN" sz="1200" b="0" i="0" u="none" strike="noStrike" cap="none">
              <a:solidFill>
                <a:schemeClr val="dk1"/>
              </a:solidFill>
              <a:latin typeface="Calibri"/>
              <a:ea typeface="Calibri"/>
              <a:cs typeface="Calibri"/>
              <a:sym typeface="Calibri"/>
            </a:endParaRPr>
          </a:p>
        </p:txBody>
      </p:sp>
      <p:sp>
        <p:nvSpPr>
          <p:cNvPr id="5" name="Footer Placeholder 4">
            <a:extLst>
              <a:ext uri="{FF2B5EF4-FFF2-40B4-BE49-F238E27FC236}">
                <a16:creationId xmlns:a16="http://schemas.microsoft.com/office/drawing/2014/main" id="{1AA6C6D5-42D6-95DD-2DC1-23AFACBC0A42}"/>
              </a:ext>
            </a:extLst>
          </p:cNvPr>
          <p:cNvSpPr>
            <a:spLocks noGrp="1"/>
          </p:cNvSpPr>
          <p:nvPr>
            <p:ph type="ftr" idx="11"/>
          </p:nvPr>
        </p:nvSpPr>
        <p:spPr/>
        <p:txBody>
          <a:bodyPr/>
          <a:lstStyle/>
          <a:p>
            <a:r>
              <a:rPr lang="en-US"/>
              <a:t>#</a:t>
            </a:r>
          </a:p>
        </p:txBody>
      </p:sp>
    </p:spTree>
    <p:extLst>
      <p:ext uri="{BB962C8B-B14F-4D97-AF65-F5344CB8AC3E}">
        <p14:creationId xmlns:p14="http://schemas.microsoft.com/office/powerpoint/2010/main" val="3891289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Test question: “What is the first sentence of the abstract in The Sketching Approach to Program Synthesis? Quote it exactly and give the page </a:t>
            </a:r>
            <a:r>
              <a:rPr lang="en-US" dirty="0" err="1"/>
              <a:t>number.”Check</a:t>
            </a:r>
            <a:r>
              <a:rPr lang="en-US" dirty="0"/>
              <a:t> that the retrieved passage contains the same sentence and that the cited page matches the PDF. This directly verifies retrieval and citation accuracy.</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6</a:t>
            </a:fld>
            <a:endParaRPr lang="en-IN" sz="1200" b="0" i="0" u="none" strike="noStrike" cap="none">
              <a:solidFill>
                <a:schemeClr val="dk1"/>
              </a:solidFill>
              <a:latin typeface="Calibri"/>
              <a:ea typeface="Calibri"/>
              <a:cs typeface="Calibri"/>
              <a:sym typeface="Calibri"/>
            </a:endParaRPr>
          </a:p>
        </p:txBody>
      </p:sp>
      <p:sp>
        <p:nvSpPr>
          <p:cNvPr id="5" name="Footer Placeholder 4">
            <a:extLst>
              <a:ext uri="{FF2B5EF4-FFF2-40B4-BE49-F238E27FC236}">
                <a16:creationId xmlns:a16="http://schemas.microsoft.com/office/drawing/2014/main" id="{67585CCE-8A24-EEBE-53F1-F7341FC9B235}"/>
              </a:ext>
            </a:extLst>
          </p:cNvPr>
          <p:cNvSpPr>
            <a:spLocks noGrp="1"/>
          </p:cNvSpPr>
          <p:nvPr>
            <p:ph type="ftr" idx="11"/>
          </p:nvPr>
        </p:nvSpPr>
        <p:spPr/>
        <p:txBody>
          <a:bodyPr/>
          <a:lstStyle/>
          <a:p>
            <a:r>
              <a:rPr lang="en-US"/>
              <a:t>#</a:t>
            </a:r>
          </a:p>
        </p:txBody>
      </p:sp>
    </p:spTree>
    <p:extLst>
      <p:ext uri="{BB962C8B-B14F-4D97-AF65-F5344CB8AC3E}">
        <p14:creationId xmlns:p14="http://schemas.microsoft.com/office/powerpoint/2010/main" val="26385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Design Decisions: Balancing Quality, Latency, and Cost</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PDF processing: </a:t>
            </a:r>
            <a:r>
              <a:rPr lang="en-US" sz="1200" kern="100" dirty="0" err="1">
                <a:effectLst/>
                <a:latin typeface="Calibri" panose="020F0502020204030204" pitchFamily="34" charset="0"/>
                <a:ea typeface="Calibri" panose="020F0502020204030204" pitchFamily="34" charset="0"/>
                <a:cs typeface="Times New Roman" panose="02020603050405020304" pitchFamily="18" charset="0"/>
              </a:rPr>
              <a:t>PyMuPDF</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extracts text page by page; </a:t>
            </a:r>
            <a:r>
              <a:rPr lang="en-US" sz="1200" kern="100" dirty="0" err="1">
                <a:effectLst/>
                <a:latin typeface="Calibri" panose="020F0502020204030204" pitchFamily="34" charset="0"/>
                <a:ea typeface="Calibri" panose="020F0502020204030204" pitchFamily="34" charset="0"/>
                <a:cs typeface="Times New Roman" panose="02020603050405020304" pitchFamily="18" charset="0"/>
              </a:rPr>
              <a:t>clean_pdf_text</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fixes some formatting artifacts. Chunks contain 320 words with 60 words of overlap and retain page metadata. Challenge: scanned PDFs need OCR, which this code does not provide; tables and figures are not extracted.</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Retrieval: The system combines BM25 keyword search with Chroma vector search, weighted 50/50. This balances exact-term matching with semantic similarity. BM25-only or vector-only retrieval were alternatives, but each misses some relevant wording.</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Context and latency: The retriever returns five chunks per query by default, while the answer prompt allows up to 12 chunks. The planner is limited to five iterations. Larger limits could improve coverage but increase prompt size, latency, and token cost.</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Indexing cost: Chroma is persisted and reused when the corpus fingerprint is unchanged, avoiding repeated embedding work. If the corpus changes or a rebuild is requested, PDFs are reprocessed and embeddings are generated again.</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Why this approach: “I chose page-aware chunking and hybrid retrieval to provide useful, traceable evidence, then bounded retrieved context and agent iterations to keep response time and token use under control. These settings are practical starting points; they have not been tuned through a formal performance benchmark.”</a:t>
            </a:r>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
        <p:nvSpPr>
          <p:cNvPr id="5" name="Footer Placeholder 4">
            <a:extLst>
              <a:ext uri="{FF2B5EF4-FFF2-40B4-BE49-F238E27FC236}">
                <a16:creationId xmlns:a16="http://schemas.microsoft.com/office/drawing/2014/main" id="{61710063-6ABE-CE01-D5AA-4A570FA6AA8B}"/>
              </a:ext>
            </a:extLst>
          </p:cNvPr>
          <p:cNvSpPr>
            <a:spLocks noGrp="1"/>
          </p:cNvSpPr>
          <p:nvPr>
            <p:ph type="ftr" idx="11"/>
          </p:nvPr>
        </p:nvSpPr>
        <p:spPr/>
        <p:txBody>
          <a:bodyPr/>
          <a:lstStyle/>
          <a:p>
            <a:r>
              <a:rPr lang="en-US"/>
              <a:t>#</a:t>
            </a:r>
          </a:p>
        </p:txBody>
      </p:sp>
    </p:spTree>
    <p:extLst>
      <p:ext uri="{BB962C8B-B14F-4D97-AF65-F5344CB8AC3E}">
        <p14:creationId xmlns:p14="http://schemas.microsoft.com/office/powerpoint/2010/main" val="1460748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Remaining Limitations</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PDF extraction: The code extracts text but does not perform OCR or extract tables and figures. A scanned paper may produce little or no usable text.</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Retrieval quality: Chunk size and the 50/50 BM25/vector weighting are fixed; there is no separate </a:t>
            </a:r>
            <a:r>
              <a:rPr lang="en-US" sz="1200" kern="100" dirty="0" err="1">
                <a:effectLst/>
                <a:latin typeface="Calibri" panose="020F0502020204030204" pitchFamily="34" charset="0"/>
                <a:ea typeface="Calibri" panose="020F0502020204030204" pitchFamily="34" charset="0"/>
                <a:cs typeface="Times New Roman" panose="02020603050405020304" pitchFamily="18" charset="0"/>
              </a:rPr>
              <a:t>reranker</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Citation reliability: The answer prompt requests citations, but the system does not independently verify that a cited page supports each claim.</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Evaluation: The code lists test questions but does not automatically score retrieval quality, factual accuracy, or citation accuracy.</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Example: For a scanned PDF, the system may have no text chunks to retrieve, so it may be unable to answer even if the information is visible on the page.</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Known Risks</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 relevant passage may not appear among the limited retrieved chunks, especially for broad comparison questions.</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Retrieved PDF text could contain misleading instructions. The prompts treat it as untrusted data, but this is not a guarantee against prompt injection.</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Estimated costs use approximate configured prices and may not match current provider pricing.</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Example: A comparison question may require evidence from many papers, but the answer model receives at most 12 chunks.</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Future Enhancements</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Add OCR and layout-aware extraction for scanned PDFs, tables, and figures.</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Build a labeled evaluation set; measure retrieval relevance, answer correctness, and citation accuracy.</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Tune chunking, retrieval weights, and result limits against that evaluation set.</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Add reranking and automated checks that each answer claim is supported by its cited passage.</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Track actual provider costs and compare latency and quality across configurations.</a:t>
            </a:r>
          </a:p>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Closing line: “The current system demonstrates the RAG workflow, while OCR, systematic evaluation, and citation verification are the next steps toward more reliable use.”</a:t>
            </a:r>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8</a:t>
            </a:fld>
            <a:endParaRPr lang="en-IN" sz="1200" b="0" i="0" u="none" strike="noStrike" cap="none">
              <a:solidFill>
                <a:schemeClr val="dk1"/>
              </a:solidFill>
              <a:latin typeface="Calibri"/>
              <a:ea typeface="Calibri"/>
              <a:cs typeface="Calibri"/>
              <a:sym typeface="Calibri"/>
            </a:endParaRPr>
          </a:p>
        </p:txBody>
      </p:sp>
      <p:sp>
        <p:nvSpPr>
          <p:cNvPr id="5" name="Footer Placeholder 4">
            <a:extLst>
              <a:ext uri="{FF2B5EF4-FFF2-40B4-BE49-F238E27FC236}">
                <a16:creationId xmlns:a16="http://schemas.microsoft.com/office/drawing/2014/main" id="{B6B69363-1F0F-F3C3-1339-740CD4F88591}"/>
              </a:ext>
            </a:extLst>
          </p:cNvPr>
          <p:cNvSpPr>
            <a:spLocks noGrp="1"/>
          </p:cNvSpPr>
          <p:nvPr>
            <p:ph type="ftr" idx="11"/>
          </p:nvPr>
        </p:nvSpPr>
        <p:spPr/>
        <p:txBody>
          <a:bodyPr/>
          <a:lstStyle/>
          <a:p>
            <a:r>
              <a:rPr lang="en-US"/>
              <a:t>#</a:t>
            </a:r>
          </a:p>
        </p:txBody>
      </p:sp>
    </p:spTree>
    <p:extLst>
      <p:ext uri="{BB962C8B-B14F-4D97-AF65-F5344CB8AC3E}">
        <p14:creationId xmlns:p14="http://schemas.microsoft.com/office/powerpoint/2010/main" val="11690994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15"/>
        <p:cNvGrpSpPr/>
        <p:nvPr/>
      </p:nvGrpSpPr>
      <p:grpSpPr>
        <a:xfrm>
          <a:off x="0" y="0"/>
          <a:ext cx="0" cy="0"/>
          <a:chOff x="0" y="0"/>
          <a:chExt cx="0" cy="0"/>
        </a:xfrm>
      </p:grpSpPr>
      <p:pic>
        <p:nvPicPr>
          <p:cNvPr id="16" name="Google Shape;16;p5"/>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7" name="Google Shape;17;p5"/>
          <p:cNvPicPr preferRelativeResize="0"/>
          <p:nvPr/>
        </p:nvPicPr>
        <p:blipFill rotWithShape="1">
          <a:blip r:embed="rId3">
            <a:alphaModFix/>
          </a:blip>
          <a:srcRect/>
          <a:stretch/>
        </p:blipFill>
        <p:spPr>
          <a:xfrm>
            <a:off x="0" y="4419600"/>
            <a:ext cx="12192000" cy="2438400"/>
          </a:xfrm>
          <a:prstGeom prst="rect">
            <a:avLst/>
          </a:prstGeom>
          <a:noFill/>
          <a:ln>
            <a:noFill/>
          </a:ln>
        </p:spPr>
      </p:pic>
      <p:pic>
        <p:nvPicPr>
          <p:cNvPr id="18" name="Google Shape;18;p5"/>
          <p:cNvPicPr preferRelativeResize="0"/>
          <p:nvPr/>
        </p:nvPicPr>
        <p:blipFill rotWithShape="1">
          <a:blip r:embed="rId4">
            <a:alphaModFix/>
          </a:blip>
          <a:srcRect/>
          <a:stretch/>
        </p:blipFill>
        <p:spPr>
          <a:xfrm>
            <a:off x="9830830" y="3686830"/>
            <a:ext cx="1905000" cy="52230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Shape 19"/>
        <p:cNvGrpSpPr/>
        <p:nvPr/>
      </p:nvGrpSpPr>
      <p:grpSpPr>
        <a:xfrm>
          <a:off x="0" y="0"/>
          <a:ext cx="0" cy="0"/>
          <a:chOff x="0" y="0"/>
          <a:chExt cx="0" cy="0"/>
        </a:xfrm>
      </p:grpSpPr>
      <p:pic>
        <p:nvPicPr>
          <p:cNvPr id="20" name="Google Shape;20;p6"/>
          <p:cNvPicPr preferRelativeResize="0"/>
          <p:nvPr/>
        </p:nvPicPr>
        <p:blipFill rotWithShape="1">
          <a:blip r:embed="rId2">
            <a:alphaModFix/>
          </a:blip>
          <a:srcRect/>
          <a:stretch/>
        </p:blipFill>
        <p:spPr>
          <a:xfrm>
            <a:off x="10797369" y="6362197"/>
            <a:ext cx="960461" cy="372478"/>
          </a:xfrm>
          <a:prstGeom prst="rect">
            <a:avLst/>
          </a:prstGeom>
          <a:noFill/>
          <a:ln>
            <a:noFill/>
          </a:ln>
        </p:spPr>
      </p:pic>
      <p:pic>
        <p:nvPicPr>
          <p:cNvPr id="21" name="Google Shape;21;p6"/>
          <p:cNvPicPr preferRelativeResize="0"/>
          <p:nvPr/>
        </p:nvPicPr>
        <p:blipFill rotWithShape="1">
          <a:blip r:embed="rId3">
            <a:alphaModFix/>
          </a:blip>
          <a:srcRect/>
          <a:stretch/>
        </p:blipFill>
        <p:spPr>
          <a:xfrm>
            <a:off x="0" y="0"/>
            <a:ext cx="12192000" cy="7143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56">
          <p15:clr>
            <a:srgbClr val="FBAE40"/>
          </p15:clr>
        </p15:guide>
        <p15:guide id="2" pos="751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_Blank">
  <p:cSld name="7_Blank">
    <p:spTree>
      <p:nvGrpSpPr>
        <p:cNvPr id="1" name="Shape 22"/>
        <p:cNvGrpSpPr/>
        <p:nvPr/>
      </p:nvGrpSpPr>
      <p:grpSpPr>
        <a:xfrm>
          <a:off x="0" y="0"/>
          <a:ext cx="0" cy="0"/>
          <a:chOff x="0" y="0"/>
          <a:chExt cx="0" cy="0"/>
        </a:xfrm>
      </p:grpSpPr>
      <p:pic>
        <p:nvPicPr>
          <p:cNvPr id="23" name="Google Shape;23;p7"/>
          <p:cNvPicPr preferRelativeResize="0"/>
          <p:nvPr/>
        </p:nvPicPr>
        <p:blipFill rotWithShape="1">
          <a:blip r:embed="rId2">
            <a:alphaModFix amt="5000"/>
          </a:blip>
          <a:srcRect/>
          <a:stretch/>
        </p:blipFill>
        <p:spPr>
          <a:xfrm>
            <a:off x="3976469" y="2607021"/>
            <a:ext cx="4239062" cy="164395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56">
          <p15:clr>
            <a:srgbClr val="FBAE40"/>
          </p15:clr>
        </p15:guide>
        <p15:guide id="2" pos="751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1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7" name="Google Shape;67;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6"/>
          <p:cNvSpPr>
            <a:spLocks noGrp="1"/>
          </p:cNvSpPr>
          <p:nvPr>
            <p:ph type="pic" idx="2"/>
          </p:nvPr>
        </p:nvSpPr>
        <p:spPr>
          <a:xfrm>
            <a:off x="5183188" y="987425"/>
            <a:ext cx="6172200" cy="4873625"/>
          </a:xfrm>
          <a:prstGeom prst="rect">
            <a:avLst/>
          </a:prstGeom>
          <a:noFill/>
          <a:ln>
            <a:noFill/>
          </a:ln>
        </p:spPr>
      </p:sp>
      <p:sp>
        <p:nvSpPr>
          <p:cNvPr id="74" name="Google Shape;74;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93"/>
        <p:cNvGrpSpPr/>
        <p:nvPr/>
      </p:nvGrpSpPr>
      <p:grpSpPr>
        <a:xfrm>
          <a:off x="0" y="0"/>
          <a:ext cx="0" cy="0"/>
          <a:chOff x="0" y="0"/>
          <a:chExt cx="0" cy="0"/>
        </a:xfrm>
      </p:grpSpPr>
      <p:sp>
        <p:nvSpPr>
          <p:cNvPr id="94" name="Google Shape;94;p1"/>
          <p:cNvSpPr txBox="1"/>
          <p:nvPr/>
        </p:nvSpPr>
        <p:spPr>
          <a:xfrm>
            <a:off x="261257" y="5321712"/>
            <a:ext cx="10896599" cy="523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IN" sz="2800" b="1" i="0" u="none" strike="noStrike" cap="none" dirty="0">
                <a:solidFill>
                  <a:schemeClr val="bg1"/>
                </a:solidFill>
                <a:latin typeface="Calibri"/>
                <a:ea typeface="Calibri"/>
                <a:cs typeface="Calibri"/>
                <a:sym typeface="Calibri"/>
              </a:rPr>
              <a:t>Capstone</a:t>
            </a:r>
            <a:r>
              <a:rPr lang="en-IN" sz="2800" b="1" i="0" u="none" strike="noStrike" cap="none" dirty="0">
                <a:solidFill>
                  <a:schemeClr val="lt1"/>
                </a:solidFill>
                <a:latin typeface="Calibri"/>
                <a:ea typeface="Calibri"/>
                <a:cs typeface="Calibri"/>
                <a:sym typeface="Calibri"/>
              </a:rPr>
              <a:t> Design Review Presentation</a:t>
            </a:r>
            <a:endParaRPr sz="1400" b="0" i="0" u="none" strike="noStrike" cap="none"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advTm="4218"/>
    </mc:Choice>
    <mc:Fallback xmlns="">
      <p:transition spd="slow" advTm="421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p:nvPr/>
        </p:nvSpPr>
        <p:spPr>
          <a:xfrm>
            <a:off x="291078" y="1298425"/>
            <a:ext cx="116097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IN" sz="2800" b="0" i="0" u="none" strike="noStrike" cap="none">
                <a:solidFill>
                  <a:schemeClr val="lt1"/>
                </a:solidFill>
                <a:latin typeface="Calibri"/>
                <a:ea typeface="Calibri"/>
                <a:cs typeface="Calibri"/>
                <a:sym typeface="Calibri"/>
              </a:rPr>
              <a:t>Add slide title</a:t>
            </a: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6E5FE501-52FC-9663-175F-EE814939F785}"/>
              </a:ext>
            </a:extLst>
          </p:cNvPr>
          <p:cNvSpPr txBox="1"/>
          <p:nvPr/>
        </p:nvSpPr>
        <p:spPr>
          <a:xfrm>
            <a:off x="859899" y="1129127"/>
            <a:ext cx="10472057" cy="1384995"/>
          </a:xfrm>
          <a:prstGeom prst="rect">
            <a:avLst/>
          </a:prstGeom>
          <a:noFill/>
        </p:spPr>
        <p:txBody>
          <a:bodyPr wrap="square">
            <a:spAutoFit/>
          </a:bodyPr>
          <a:lstStyle>
            <a:defPPr marR="0" lvl="0" algn="l" rtl="0">
              <a:lnSpc>
                <a:spcPct val="100000"/>
              </a:lnSpc>
              <a:spcBef>
                <a:spcPts val="0"/>
              </a:spcBef>
              <a:spcAft>
                <a:spcPts val="0"/>
              </a:spcAft>
            </a:defPPr>
            <a:lvl1pPr>
              <a:defRPr sz="2800" b="1">
                <a:solidFill>
                  <a:srgbClr val="A31F34"/>
                </a:solidFill>
                <a:latin typeface="Calibri"/>
                <a:ea typeface="Calibri"/>
                <a:cs typeface="Calibri"/>
              </a:defRPr>
            </a:lvl1pPr>
          </a:lstStyle>
          <a:p>
            <a:pPr algn="ctr"/>
            <a:r>
              <a:rPr lang="en-IN" dirty="0"/>
              <a:t>Designing and Evaluating a Retrieval-Augmented LLM System</a:t>
            </a:r>
          </a:p>
          <a:p>
            <a:pPr algn="ctr"/>
            <a:r>
              <a:rPr lang="en-IN" dirty="0"/>
              <a:t>Ojer Paz Montiel  | Research Papers Navigator </a:t>
            </a:r>
          </a:p>
          <a:p>
            <a:endParaRPr lang="en-IN" dirty="0"/>
          </a:p>
        </p:txBody>
      </p:sp>
      <p:sp>
        <p:nvSpPr>
          <p:cNvPr id="2" name="TextBox 1">
            <a:extLst>
              <a:ext uri="{FF2B5EF4-FFF2-40B4-BE49-F238E27FC236}">
                <a16:creationId xmlns:a16="http://schemas.microsoft.com/office/drawing/2014/main" id="{983746FF-1DB6-B6CB-2E98-0D8E8943DBD1}"/>
              </a:ext>
            </a:extLst>
          </p:cNvPr>
          <p:cNvSpPr txBox="1"/>
          <p:nvPr/>
        </p:nvSpPr>
        <p:spPr>
          <a:xfrm>
            <a:off x="1532581" y="2846285"/>
            <a:ext cx="9305938" cy="1384995"/>
          </a:xfrm>
          <a:prstGeom prst="rect">
            <a:avLst/>
          </a:prstGeom>
          <a:noFill/>
        </p:spPr>
        <p:txBody>
          <a:bodyPr wrap="square">
            <a:spAutoFit/>
          </a:bodyPr>
          <a:lstStyle/>
          <a:p>
            <a:r>
              <a:rPr lang="en-US" dirty="0"/>
              <a:t>Research Paper Navigator was developed to help users interact with a collection of research papers through natural language. Instead of manually reviewing dozens of documents, users can ask questions and receive grounded answers supported by citations and direct quotations.</a:t>
            </a:r>
          </a:p>
          <a:p>
            <a:endParaRPr lang="en-US" dirty="0"/>
          </a:p>
          <a:p>
            <a:r>
              <a:rPr lang="en-US" dirty="0"/>
              <a:t>The goal of this project is to transform a collection of research papers into a conversational research assistant that supports retrieval, comparison, trend analysis, and citation-backed answers.</a:t>
            </a:r>
          </a:p>
        </p:txBody>
      </p:sp>
    </p:spTree>
  </p:cSld>
  <p:clrMapOvr>
    <a:masterClrMapping/>
  </p:clrMapOvr>
  <mc:AlternateContent xmlns:mc="http://schemas.openxmlformats.org/markup-compatibility/2006" xmlns:p14="http://schemas.microsoft.com/office/powerpoint/2010/main">
    <mc:Choice Requires="p14">
      <p:transition spd="slow" p14:dur="2000" advTm="17151"/>
    </mc:Choice>
    <mc:Fallback xmlns="">
      <p:transition spd="slow" advTm="1715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3"/>
        <p:cNvGrpSpPr/>
        <p:nvPr/>
      </p:nvGrpSpPr>
      <p:grpSpPr>
        <a:xfrm>
          <a:off x="0" y="0"/>
          <a:ext cx="0" cy="0"/>
          <a:chOff x="0" y="0"/>
          <a:chExt cx="0" cy="0"/>
        </a:xfrm>
      </p:grpSpPr>
      <p:sp>
        <p:nvSpPr>
          <p:cNvPr id="9" name="TextBox 8">
            <a:extLst>
              <a:ext uri="{FF2B5EF4-FFF2-40B4-BE49-F238E27FC236}">
                <a16:creationId xmlns:a16="http://schemas.microsoft.com/office/drawing/2014/main" id="{73F3F64E-BE4D-D3DF-57D5-BF67AE1E9EDD}"/>
              </a:ext>
            </a:extLst>
          </p:cNvPr>
          <p:cNvSpPr txBox="1"/>
          <p:nvPr/>
        </p:nvSpPr>
        <p:spPr>
          <a:xfrm>
            <a:off x="3048000" y="608112"/>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The Problem</a:t>
            </a:r>
          </a:p>
        </p:txBody>
      </p:sp>
      <p:sp>
        <p:nvSpPr>
          <p:cNvPr id="8" name="TextBox 7">
            <a:extLst>
              <a:ext uri="{FF2B5EF4-FFF2-40B4-BE49-F238E27FC236}">
                <a16:creationId xmlns:a16="http://schemas.microsoft.com/office/drawing/2014/main" id="{42EB0F12-36BB-9736-AE7A-743D4653A1E5}"/>
              </a:ext>
            </a:extLst>
          </p:cNvPr>
          <p:cNvSpPr txBox="1"/>
          <p:nvPr/>
        </p:nvSpPr>
        <p:spPr>
          <a:xfrm>
            <a:off x="867102" y="1360165"/>
            <a:ext cx="10562897" cy="2983509"/>
          </a:xfrm>
          <a:prstGeom prst="rect">
            <a:avLst/>
          </a:prstGeom>
          <a:noFill/>
        </p:spPr>
        <p:txBody>
          <a:bodyPr wrap="square">
            <a:spAutoFit/>
          </a:bodyPr>
          <a:lstStyle/>
          <a:p>
            <a:pPr fontAlgn="t">
              <a:lnSpc>
                <a:spcPts val="1500"/>
              </a:lnSpc>
              <a:buNone/>
            </a:pPr>
            <a:r>
              <a:rPr lang="en-US" b="1" i="0" dirty="0">
                <a:effectLst/>
                <a:latin typeface="Segoe UI" panose="020B0502040204020203" pitchFamily="34" charset="0"/>
              </a:rPr>
              <a:t>What Problem Does the System Solve?</a:t>
            </a:r>
          </a:p>
          <a:p>
            <a:pPr fontAlgn="t">
              <a:lnSpc>
                <a:spcPts val="1500"/>
              </a:lnSpc>
              <a:buNone/>
            </a:pPr>
            <a:r>
              <a:rPr lang="en-US" b="0" i="0" dirty="0">
                <a:effectLst/>
                <a:latin typeface="Segoe UI" panose="020B0502040204020203" pitchFamily="34" charset="0"/>
              </a:rPr>
              <a:t>Research Paper Navigator helps users interact with a collection of research papers through natural language questions. Instead of manually searching and reviewing individual PDFs, users can ask questions and receive evidence-based answers supported by retrieved passages, paper references, and page-level citations.</a:t>
            </a:r>
          </a:p>
          <a:p>
            <a:pPr fontAlgn="t">
              <a:lnSpc>
                <a:spcPts val="1500"/>
              </a:lnSpc>
              <a:buNone/>
            </a:pPr>
            <a:br>
              <a:rPr lang="en-US" b="0" i="0" dirty="0">
                <a:effectLst/>
                <a:latin typeface="Segoe UI" panose="020B0502040204020203" pitchFamily="34" charset="0"/>
              </a:rPr>
            </a:br>
            <a:endParaRPr lang="en-US" b="0" i="0" dirty="0">
              <a:effectLst/>
              <a:latin typeface="Segoe UI" panose="020B0502040204020203" pitchFamily="34" charset="0"/>
            </a:endParaRPr>
          </a:p>
          <a:p>
            <a:pPr fontAlgn="t">
              <a:lnSpc>
                <a:spcPts val="1500"/>
              </a:lnSpc>
              <a:buNone/>
            </a:pPr>
            <a:r>
              <a:rPr lang="en-US" b="1" i="0" dirty="0">
                <a:effectLst/>
                <a:latin typeface="Segoe UI" panose="020B0502040204020203" pitchFamily="34" charset="0"/>
              </a:rPr>
              <a:t>Who Is the Intended User?</a:t>
            </a:r>
          </a:p>
          <a:p>
            <a:pPr fontAlgn="t">
              <a:lnSpc>
                <a:spcPts val="1500"/>
              </a:lnSpc>
              <a:buNone/>
            </a:pPr>
            <a:r>
              <a:rPr lang="en-US" b="0" i="0" dirty="0">
                <a:effectLst/>
                <a:latin typeface="Segoe UI" panose="020B0502040204020203" pitchFamily="34" charset="0"/>
              </a:rPr>
              <a:t>The system is designed for students, researchers, and knowledge workers who need to locate, understand, compare, and verify information across multiple research papers efficiently.</a:t>
            </a:r>
          </a:p>
          <a:p>
            <a:pPr fontAlgn="t">
              <a:lnSpc>
                <a:spcPts val="1500"/>
              </a:lnSpc>
              <a:buNone/>
            </a:pPr>
            <a:br>
              <a:rPr lang="en-US" b="0" i="0" dirty="0">
                <a:effectLst/>
                <a:latin typeface="Segoe UI" panose="020B0502040204020203" pitchFamily="34" charset="0"/>
              </a:rPr>
            </a:br>
            <a:endParaRPr lang="en-US" b="0" i="0" dirty="0">
              <a:effectLst/>
              <a:latin typeface="Segoe UI" panose="020B0502040204020203" pitchFamily="34" charset="0"/>
            </a:endParaRPr>
          </a:p>
          <a:p>
            <a:pPr fontAlgn="t">
              <a:lnSpc>
                <a:spcPts val="1500"/>
              </a:lnSpc>
              <a:buNone/>
            </a:pPr>
            <a:r>
              <a:rPr lang="en-US" b="1" i="0" dirty="0">
                <a:effectLst/>
                <a:latin typeface="Segoe UI" panose="020B0502040204020203" pitchFamily="34" charset="0"/>
              </a:rPr>
              <a:t>Why Is This Problem Important?</a:t>
            </a:r>
          </a:p>
          <a:p>
            <a:pPr fontAlgn="t">
              <a:lnSpc>
                <a:spcPts val="1500"/>
              </a:lnSpc>
              <a:buNone/>
            </a:pPr>
            <a:r>
              <a:rPr lang="en-US" b="0" i="0" dirty="0">
                <a:effectLst/>
                <a:latin typeface="Segoe UI" panose="020B0502040204020203" pitchFamily="34" charset="0"/>
              </a:rPr>
              <a:t>Literature reviews often require significant time and effort to find relevant information and verify supporting evidence. Research Paper Navigator improves research efficiency by retrieving relevant passages and providing citation-supported answers that can be traced back to the original source. The system assists the research process while preserving transparency and human verification.</a:t>
            </a:r>
          </a:p>
        </p:txBody>
      </p:sp>
      <p:sp>
        <p:nvSpPr>
          <p:cNvPr id="5" name="TextBox 4">
            <a:extLst>
              <a:ext uri="{FF2B5EF4-FFF2-40B4-BE49-F238E27FC236}">
                <a16:creationId xmlns:a16="http://schemas.microsoft.com/office/drawing/2014/main" id="{415947D4-81CB-727D-0F3E-1957802B0ABB}"/>
              </a:ext>
            </a:extLst>
          </p:cNvPr>
          <p:cNvSpPr txBox="1"/>
          <p:nvPr/>
        </p:nvSpPr>
        <p:spPr>
          <a:xfrm>
            <a:off x="981222" y="5497835"/>
            <a:ext cx="10562896" cy="482824"/>
          </a:xfrm>
          <a:prstGeom prst="rect">
            <a:avLst/>
          </a:prstGeom>
          <a:noFill/>
        </p:spPr>
        <p:txBody>
          <a:bodyPr wrap="square">
            <a:spAutoFit/>
          </a:bodyPr>
          <a:lstStyle/>
          <a:p>
            <a:pPr fontAlgn="t">
              <a:lnSpc>
                <a:spcPts val="1500"/>
              </a:lnSpc>
              <a:buNone/>
            </a:pPr>
            <a:r>
              <a:rPr lang="en-US" b="1" i="0" dirty="0">
                <a:effectLst/>
                <a:latin typeface="Segoe UI" panose="020B0502040204020203" pitchFamily="34" charset="0"/>
              </a:rPr>
              <a:t>RAG is used to ground the LLM's responses in retrieved research-paper evidence, enabling more accurate, transparent, and citation-supported answers.</a:t>
            </a:r>
          </a:p>
        </p:txBody>
      </p:sp>
    </p:spTree>
  </p:cSld>
  <p:clrMapOvr>
    <a:masterClrMapping/>
  </p:clrMapOvr>
  <mc:AlternateContent xmlns:mc="http://schemas.openxmlformats.org/markup-compatibility/2006">
    <mc:Choice xmlns:p14="http://schemas.microsoft.com/office/powerpoint/2010/main" Requires="p14">
      <p:transition spd="slow" p14:dur="10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CF4003-6B2E-87CF-2817-76889C6135B4}"/>
              </a:ext>
            </a:extLst>
          </p:cNvPr>
          <p:cNvSpPr txBox="1"/>
          <p:nvPr/>
        </p:nvSpPr>
        <p:spPr>
          <a:xfrm>
            <a:off x="2876061" y="0"/>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The Solution</a:t>
            </a:r>
          </a:p>
        </p:txBody>
      </p:sp>
      <p:pic>
        <p:nvPicPr>
          <p:cNvPr id="9" name="Picture 8">
            <a:extLst>
              <a:ext uri="{FF2B5EF4-FFF2-40B4-BE49-F238E27FC236}">
                <a16:creationId xmlns:a16="http://schemas.microsoft.com/office/drawing/2014/main" id="{B739EDB3-231D-A0FF-F337-A10254324E53}"/>
              </a:ext>
            </a:extLst>
          </p:cNvPr>
          <p:cNvPicPr>
            <a:picLocks noChangeAspect="1"/>
          </p:cNvPicPr>
          <p:nvPr/>
        </p:nvPicPr>
        <p:blipFill>
          <a:blip r:embed="rId3"/>
          <a:stretch>
            <a:fillRect/>
          </a:stretch>
        </p:blipFill>
        <p:spPr>
          <a:xfrm>
            <a:off x="8639503" y="334507"/>
            <a:ext cx="3267244" cy="6188986"/>
          </a:xfrm>
          <a:prstGeom prst="rect">
            <a:avLst/>
          </a:prstGeom>
        </p:spPr>
      </p:pic>
      <p:sp>
        <p:nvSpPr>
          <p:cNvPr id="4" name="TextBox 3">
            <a:extLst>
              <a:ext uri="{FF2B5EF4-FFF2-40B4-BE49-F238E27FC236}">
                <a16:creationId xmlns:a16="http://schemas.microsoft.com/office/drawing/2014/main" id="{5AC101A7-3323-D534-EF3A-D893D4B093D2}"/>
              </a:ext>
            </a:extLst>
          </p:cNvPr>
          <p:cNvSpPr txBox="1"/>
          <p:nvPr/>
        </p:nvSpPr>
        <p:spPr>
          <a:xfrm>
            <a:off x="285253" y="465289"/>
            <a:ext cx="8404991" cy="3175869"/>
          </a:xfrm>
          <a:prstGeom prst="rect">
            <a:avLst/>
          </a:prstGeom>
          <a:noFill/>
        </p:spPr>
        <p:txBody>
          <a:bodyPr wrap="square">
            <a:spAutoFit/>
          </a:bodyPr>
          <a:lstStyle/>
          <a:p>
            <a:pPr fontAlgn="t">
              <a:lnSpc>
                <a:spcPts val="1500"/>
              </a:lnSpc>
              <a:buNone/>
            </a:pPr>
            <a:r>
              <a:rPr lang="en-US" b="1" dirty="0">
                <a:latin typeface="Segoe UI" panose="020B0502040204020203" pitchFamily="34" charset="0"/>
              </a:rPr>
              <a:t>High-Level  Architecture </a:t>
            </a:r>
          </a:p>
          <a:p>
            <a:pPr fontAlgn="t">
              <a:lnSpc>
                <a:spcPts val="1500"/>
              </a:lnSpc>
              <a:buNone/>
            </a:pPr>
            <a:endParaRPr lang="en-US" b="1" i="0" dirty="0">
              <a:effectLst/>
              <a:latin typeface="Segoe UI" panose="020B0502040204020203" pitchFamily="34" charset="0"/>
            </a:endParaRPr>
          </a:p>
          <a:p>
            <a:pPr fontAlgn="t">
              <a:lnSpc>
                <a:spcPts val="1500"/>
              </a:lnSpc>
              <a:buNone/>
            </a:pPr>
            <a:r>
              <a:rPr lang="en-US" b="1" i="0" dirty="0">
                <a:effectLst/>
                <a:latin typeface="Segoe UI" panose="020B0502040204020203" pitchFamily="34" charset="0"/>
              </a:rPr>
              <a:t>Offline Stage</a:t>
            </a:r>
            <a:endParaRPr lang="en-US" b="0" i="0" dirty="0">
              <a:effectLst/>
              <a:latin typeface="Segoe UI" panose="020B0502040204020203" pitchFamily="34" charset="0"/>
            </a:endParaRPr>
          </a:p>
          <a:p>
            <a:pPr fontAlgn="t">
              <a:lnSpc>
                <a:spcPts val="1500"/>
              </a:lnSpc>
              <a:buFont typeface="Arial" panose="020B0604020202020204" pitchFamily="34" charset="0"/>
              <a:buChar char="•"/>
            </a:pPr>
            <a:r>
              <a:rPr lang="en-US" b="0" i="0" dirty="0">
                <a:effectLst/>
                <a:latin typeface="Segoe UI" panose="020B0502040204020203" pitchFamily="34" charset="0"/>
              </a:rPr>
              <a:t>PDF Processing</a:t>
            </a:r>
          </a:p>
          <a:p>
            <a:pPr fontAlgn="t">
              <a:lnSpc>
                <a:spcPts val="1500"/>
              </a:lnSpc>
              <a:buFont typeface="Arial" panose="020B0604020202020204" pitchFamily="34" charset="0"/>
              <a:buChar char="•"/>
            </a:pPr>
            <a:r>
              <a:rPr lang="en-US" b="0" i="0" dirty="0">
                <a:effectLst/>
                <a:latin typeface="Segoe UI" panose="020B0502040204020203" pitchFamily="34" charset="0"/>
              </a:rPr>
              <a:t>Text Chunking</a:t>
            </a:r>
          </a:p>
          <a:p>
            <a:pPr fontAlgn="t">
              <a:lnSpc>
                <a:spcPts val="1500"/>
              </a:lnSpc>
              <a:buFont typeface="Arial" panose="020B0604020202020204" pitchFamily="34" charset="0"/>
              <a:buChar char="•"/>
            </a:pPr>
            <a:r>
              <a:rPr lang="en-US" b="0" i="0" dirty="0">
                <a:effectLst/>
                <a:latin typeface="Segoe UI" panose="020B0502040204020203" pitchFamily="34" charset="0"/>
              </a:rPr>
              <a:t>Hybrid Index Creation</a:t>
            </a:r>
          </a:p>
          <a:p>
            <a:pPr fontAlgn="t">
              <a:lnSpc>
                <a:spcPts val="1500"/>
              </a:lnSpc>
              <a:buNone/>
            </a:pPr>
            <a:endParaRPr lang="en-US" b="1" i="0" dirty="0">
              <a:effectLst/>
              <a:latin typeface="Segoe UI" panose="020B0502040204020203" pitchFamily="34" charset="0"/>
            </a:endParaRPr>
          </a:p>
          <a:p>
            <a:pPr fontAlgn="t">
              <a:lnSpc>
                <a:spcPts val="1500"/>
              </a:lnSpc>
              <a:buNone/>
            </a:pPr>
            <a:r>
              <a:rPr lang="en-US" b="1" i="0" dirty="0">
                <a:effectLst/>
                <a:latin typeface="Segoe UI" panose="020B0502040204020203" pitchFamily="34" charset="0"/>
              </a:rPr>
              <a:t>Online Stage</a:t>
            </a:r>
            <a:endParaRPr lang="en-US" b="0" i="0" dirty="0">
              <a:effectLst/>
              <a:latin typeface="Segoe UI" panose="020B0502040204020203" pitchFamily="34" charset="0"/>
            </a:endParaRPr>
          </a:p>
          <a:p>
            <a:pPr fontAlgn="t">
              <a:lnSpc>
                <a:spcPts val="1500"/>
              </a:lnSpc>
              <a:buFont typeface="Arial" panose="020B0604020202020204" pitchFamily="34" charset="0"/>
              <a:buChar char="•"/>
            </a:pPr>
            <a:r>
              <a:rPr lang="en-US" b="0" i="0" dirty="0">
                <a:effectLst/>
                <a:latin typeface="Segoe UI" panose="020B0502040204020203" pitchFamily="34" charset="0"/>
              </a:rPr>
              <a:t>Evidence Retrieval</a:t>
            </a:r>
          </a:p>
          <a:p>
            <a:pPr fontAlgn="t">
              <a:lnSpc>
                <a:spcPts val="1500"/>
              </a:lnSpc>
              <a:buFont typeface="Arial" panose="020B0604020202020204" pitchFamily="34" charset="0"/>
              <a:buChar char="•"/>
            </a:pPr>
            <a:r>
              <a:rPr lang="en-US" b="0" i="0" dirty="0">
                <a:effectLst/>
                <a:latin typeface="Segoe UI" panose="020B0502040204020203" pitchFamily="34" charset="0"/>
              </a:rPr>
              <a:t>Agent Reasoning</a:t>
            </a:r>
          </a:p>
          <a:p>
            <a:pPr fontAlgn="t">
              <a:lnSpc>
                <a:spcPts val="1500"/>
              </a:lnSpc>
              <a:buFont typeface="Arial" panose="020B0604020202020204" pitchFamily="34" charset="0"/>
              <a:buChar char="•"/>
            </a:pPr>
            <a:r>
              <a:rPr lang="en-US" b="0" i="0" dirty="0">
                <a:effectLst/>
                <a:latin typeface="Segoe UI" panose="020B0502040204020203" pitchFamily="34" charset="0"/>
              </a:rPr>
              <a:t>Citation-Based Answer Generation</a:t>
            </a:r>
          </a:p>
          <a:p>
            <a:pPr fontAlgn="t">
              <a:lnSpc>
                <a:spcPts val="1500"/>
              </a:lnSpc>
              <a:buNone/>
            </a:pPr>
            <a:endParaRPr lang="en-US" b="1" i="0" dirty="0">
              <a:effectLst/>
              <a:latin typeface="Segoe UI" panose="020B0502040204020203" pitchFamily="34" charset="0"/>
            </a:endParaRPr>
          </a:p>
          <a:p>
            <a:pPr fontAlgn="t">
              <a:lnSpc>
                <a:spcPts val="1500"/>
              </a:lnSpc>
              <a:buNone/>
            </a:pPr>
            <a:r>
              <a:rPr lang="en-US" b="1" i="0" dirty="0">
                <a:effectLst/>
                <a:latin typeface="Segoe UI" panose="020B0502040204020203" pitchFamily="34" charset="0"/>
              </a:rPr>
              <a:t>Workflow</a:t>
            </a:r>
          </a:p>
          <a:p>
            <a:pPr fontAlgn="t">
              <a:lnSpc>
                <a:spcPts val="1500"/>
              </a:lnSpc>
              <a:buNone/>
            </a:pPr>
            <a:endParaRPr lang="en-US" b="1" i="0" dirty="0">
              <a:effectLst/>
              <a:latin typeface="Segoe UI" panose="020B0502040204020203" pitchFamily="34" charset="0"/>
            </a:endParaRPr>
          </a:p>
          <a:p>
            <a:pPr fontAlgn="t">
              <a:lnSpc>
                <a:spcPts val="1500"/>
              </a:lnSpc>
              <a:buNone/>
            </a:pPr>
            <a:r>
              <a:rPr lang="en-US" b="1" i="0" dirty="0">
                <a:effectLst/>
                <a:latin typeface="Segoe UI" panose="020B0502040204020203" pitchFamily="34" charset="0"/>
              </a:rPr>
              <a:t>Research Papers → Chunking → Hybrid Retrieval → LangGraph Agent → LLM → Cited Answer</a:t>
            </a:r>
            <a:endParaRPr lang="en-US" b="0" i="0" dirty="0">
              <a:effectLst/>
              <a:latin typeface="Segoe UI" panose="020B0502040204020203" pitchFamily="34" charset="0"/>
            </a:endParaRPr>
          </a:p>
          <a:p>
            <a:pPr fontAlgn="t">
              <a:lnSpc>
                <a:spcPts val="1500"/>
              </a:lnSpc>
              <a:buNone/>
            </a:pPr>
            <a:r>
              <a:rPr lang="en-US" b="1" i="0" dirty="0">
                <a:effectLst/>
                <a:latin typeface="Segoe UI" panose="020B0502040204020203" pitchFamily="34" charset="0"/>
              </a:rPr>
              <a:t>Outcome:</a:t>
            </a:r>
            <a:r>
              <a:rPr lang="en-US" b="0" i="0" dirty="0">
                <a:effectLst/>
                <a:latin typeface="Segoe UI" panose="020B0502040204020203" pitchFamily="34" charset="0"/>
              </a:rPr>
              <a:t> Users receive grounded answers supported by verifiable paper and page citations.</a:t>
            </a:r>
          </a:p>
        </p:txBody>
      </p:sp>
      <p:pic>
        <p:nvPicPr>
          <p:cNvPr id="3" name="Picture 2">
            <a:extLst>
              <a:ext uri="{FF2B5EF4-FFF2-40B4-BE49-F238E27FC236}">
                <a16:creationId xmlns:a16="http://schemas.microsoft.com/office/drawing/2014/main" id="{431B2E53-D729-830A-9D28-08675BB90E29}"/>
              </a:ext>
            </a:extLst>
          </p:cNvPr>
          <p:cNvPicPr>
            <a:picLocks noChangeAspect="1"/>
          </p:cNvPicPr>
          <p:nvPr/>
        </p:nvPicPr>
        <p:blipFill>
          <a:blip r:embed="rId4"/>
          <a:stretch>
            <a:fillRect/>
          </a:stretch>
        </p:blipFill>
        <p:spPr>
          <a:xfrm>
            <a:off x="285253" y="3641158"/>
            <a:ext cx="8518358" cy="2882335"/>
          </a:xfrm>
          <a:prstGeom prst="rect">
            <a:avLst/>
          </a:prstGeom>
        </p:spPr>
      </p:pic>
      <p:cxnSp>
        <p:nvCxnSpPr>
          <p:cNvPr id="6" name="Straight Connector 5">
            <a:extLst>
              <a:ext uri="{FF2B5EF4-FFF2-40B4-BE49-F238E27FC236}">
                <a16:creationId xmlns:a16="http://schemas.microsoft.com/office/drawing/2014/main" id="{5FF09CF6-C282-6586-5757-3FEC00416D42}"/>
              </a:ext>
            </a:extLst>
          </p:cNvPr>
          <p:cNvCxnSpPr>
            <a:cxnSpLocks/>
          </p:cNvCxnSpPr>
          <p:nvPr/>
        </p:nvCxnSpPr>
        <p:spPr>
          <a:xfrm>
            <a:off x="356839" y="4207727"/>
            <a:ext cx="428950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9224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19D21E1-1C61-D849-4CD7-A41729F4901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14B45E-DD88-DBE9-9625-4BCB71D8DFE3}"/>
              </a:ext>
            </a:extLst>
          </p:cNvPr>
          <p:cNvSpPr txBox="1"/>
          <p:nvPr/>
        </p:nvSpPr>
        <p:spPr>
          <a:xfrm>
            <a:off x="2876061" y="0"/>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The Solution </a:t>
            </a:r>
          </a:p>
        </p:txBody>
      </p:sp>
      <p:sp>
        <p:nvSpPr>
          <p:cNvPr id="3" name="TextBox 2">
            <a:extLst>
              <a:ext uri="{FF2B5EF4-FFF2-40B4-BE49-F238E27FC236}">
                <a16:creationId xmlns:a16="http://schemas.microsoft.com/office/drawing/2014/main" id="{7B88E4E3-65DB-64B5-2F62-94857C725F40}"/>
              </a:ext>
            </a:extLst>
          </p:cNvPr>
          <p:cNvSpPr txBox="1"/>
          <p:nvPr/>
        </p:nvSpPr>
        <p:spPr>
          <a:xfrm>
            <a:off x="725905" y="476945"/>
            <a:ext cx="10740189" cy="923330"/>
          </a:xfrm>
          <a:prstGeom prst="rect">
            <a:avLst/>
          </a:prstGeom>
          <a:noFill/>
        </p:spPr>
        <p:txBody>
          <a:bodyPr wrap="square">
            <a:spAutoFit/>
          </a:bodyPr>
          <a:lstStyle/>
          <a:p>
            <a:r>
              <a:rPr lang="en-US" sz="1000" b="1" dirty="0"/>
              <a:t>Specific-paper search: </a:t>
            </a:r>
            <a:r>
              <a:rPr lang="en-US" sz="1000" dirty="0"/>
              <a:t>“In The Sketching Approach to Program Synthesis, what is a sketch, what does the programmer provide, and what does the synthesizer complete? Cite the paper title and </a:t>
            </a:r>
            <a:r>
              <a:rPr lang="en-US" sz="1000" dirty="0" err="1"/>
              <a:t>page.”This</a:t>
            </a:r>
            <a:r>
              <a:rPr lang="en-US" sz="1000" dirty="0"/>
              <a:t> tests whether PDF text was indexed into searchable chunks and whether the page metadata supports a traceable citation.</a:t>
            </a:r>
          </a:p>
          <a:p>
            <a:endParaRPr lang="en-US" sz="1000" b="1" dirty="0"/>
          </a:p>
          <a:p>
            <a:r>
              <a:rPr lang="en-US" sz="1000" b="1" dirty="0"/>
              <a:t>Collection-wide comparison: </a:t>
            </a:r>
            <a:r>
              <a:rPr lang="en-US" sz="1000" dirty="0"/>
              <a:t>“Compare how different papers in the collection define program synthesis. Cite each paper and page you </a:t>
            </a:r>
            <a:r>
              <a:rPr lang="en-US" sz="1000" dirty="0" err="1"/>
              <a:t>use.”This</a:t>
            </a:r>
            <a:r>
              <a:rPr lang="en-US" sz="1000" dirty="0"/>
              <a:t> tests keyword and semantic retrieval across papers, followed by the agent’s evidence gathering and citation-supported answer generation</a:t>
            </a:r>
            <a:r>
              <a:rPr lang="en-US" dirty="0"/>
              <a:t>.</a:t>
            </a:r>
          </a:p>
        </p:txBody>
      </p:sp>
      <p:pic>
        <p:nvPicPr>
          <p:cNvPr id="9" name="Picture 8">
            <a:extLst>
              <a:ext uri="{FF2B5EF4-FFF2-40B4-BE49-F238E27FC236}">
                <a16:creationId xmlns:a16="http://schemas.microsoft.com/office/drawing/2014/main" id="{4E017F22-F76F-CDA7-AFD6-64F8144CAF07}"/>
              </a:ext>
            </a:extLst>
          </p:cNvPr>
          <p:cNvPicPr>
            <a:picLocks noChangeAspect="1"/>
          </p:cNvPicPr>
          <p:nvPr/>
        </p:nvPicPr>
        <p:blipFill>
          <a:blip r:embed="rId3"/>
          <a:stretch>
            <a:fillRect/>
          </a:stretch>
        </p:blipFill>
        <p:spPr>
          <a:xfrm>
            <a:off x="864525" y="1331967"/>
            <a:ext cx="10119071" cy="5430302"/>
          </a:xfrm>
          <a:prstGeom prst="rect">
            <a:avLst/>
          </a:prstGeom>
        </p:spPr>
      </p:pic>
      <p:pic>
        <p:nvPicPr>
          <p:cNvPr id="2" name="Picture 1">
            <a:extLst>
              <a:ext uri="{FF2B5EF4-FFF2-40B4-BE49-F238E27FC236}">
                <a16:creationId xmlns:a16="http://schemas.microsoft.com/office/drawing/2014/main" id="{118A8C46-4AF6-00B6-C20D-0824E80D1A79}"/>
              </a:ext>
            </a:extLst>
          </p:cNvPr>
          <p:cNvPicPr>
            <a:picLocks noChangeAspect="1"/>
          </p:cNvPicPr>
          <p:nvPr/>
        </p:nvPicPr>
        <p:blipFill>
          <a:blip r:embed="rId4"/>
          <a:stretch>
            <a:fillRect/>
          </a:stretch>
        </p:blipFill>
        <p:spPr>
          <a:xfrm>
            <a:off x="913842" y="1504893"/>
            <a:ext cx="4298053" cy="12193"/>
          </a:xfrm>
          <a:prstGeom prst="rect">
            <a:avLst/>
          </a:prstGeom>
        </p:spPr>
      </p:pic>
    </p:spTree>
    <p:extLst>
      <p:ext uri="{BB962C8B-B14F-4D97-AF65-F5344CB8AC3E}">
        <p14:creationId xmlns:p14="http://schemas.microsoft.com/office/powerpoint/2010/main" val="2861917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D08B99-26E8-96E3-B453-DEED97ED3C1F}"/>
              </a:ext>
            </a:extLst>
          </p:cNvPr>
          <p:cNvSpPr txBox="1"/>
          <p:nvPr/>
        </p:nvSpPr>
        <p:spPr>
          <a:xfrm>
            <a:off x="2944633" y="123082"/>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Retrieval and Evaluation</a:t>
            </a:r>
          </a:p>
        </p:txBody>
      </p:sp>
      <p:sp>
        <p:nvSpPr>
          <p:cNvPr id="19" name="TextBox 18">
            <a:extLst>
              <a:ext uri="{FF2B5EF4-FFF2-40B4-BE49-F238E27FC236}">
                <a16:creationId xmlns:a16="http://schemas.microsoft.com/office/drawing/2014/main" id="{EAC44C99-5EDE-E106-600E-8561CF7AF08A}"/>
              </a:ext>
            </a:extLst>
          </p:cNvPr>
          <p:cNvSpPr txBox="1"/>
          <p:nvPr/>
        </p:nvSpPr>
        <p:spPr>
          <a:xfrm>
            <a:off x="436442" y="646302"/>
            <a:ext cx="11587491" cy="2675412"/>
          </a:xfrm>
          <a:prstGeom prst="rect">
            <a:avLst/>
          </a:prstGeom>
          <a:noFill/>
        </p:spPr>
        <p:txBody>
          <a:bodyPr wrap="square">
            <a:spAutoFit/>
          </a:bodyPr>
          <a:lstStyle/>
          <a:p>
            <a:pPr marL="0" marR="0">
              <a:lnSpc>
                <a:spcPct val="115000"/>
              </a:lnSpc>
              <a:spcAft>
                <a:spcPts val="800"/>
              </a:spcAft>
              <a:buNone/>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Simple Presentation Example</a:t>
            </a:r>
          </a:p>
          <a:p>
            <a:pPr marL="0" marR="0">
              <a:lnSpc>
                <a:spcPct val="115000"/>
              </a:lnSpc>
              <a:spcAft>
                <a:spcPts val="800"/>
              </a:spcAft>
              <a:buNone/>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Question: “What is the main idea of The Sketching Approach to Program Synthesis?”</a:t>
            </a:r>
          </a:p>
          <a:p>
            <a:pPr marL="0" marR="0">
              <a:lnSpc>
                <a:spcPct val="115000"/>
              </a:lnSpc>
              <a:spcAft>
                <a:spcPts val="800"/>
              </a:spcAft>
              <a:buNone/>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What the system does: It searches the papers twice: once for matching words and once for similar meaning. It combines the results and selects the five most relevant passages.</a:t>
            </a:r>
          </a:p>
          <a:p>
            <a:pPr marL="0" marR="0">
              <a:lnSpc>
                <a:spcPct val="115000"/>
              </a:lnSpc>
              <a:spcAft>
                <a:spcPts val="800"/>
              </a:spcAft>
              <a:buNone/>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Example answer: The paper describes “sketches,” or incomplete programs, that a computer completes. The answer should cite the paper and page number.</a:t>
            </a:r>
          </a:p>
          <a:p>
            <a:pPr marL="0" marR="0">
              <a:lnSpc>
                <a:spcPct val="115000"/>
              </a:lnSpc>
              <a:spcAft>
                <a:spcPts val="800"/>
              </a:spcAft>
              <a:buNone/>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How I test it: I check whether the right paper and passage were found, and whether the answer’s citation matches the PDF.</a:t>
            </a:r>
          </a:p>
          <a:p>
            <a:pPr marL="0" marR="0">
              <a:lnSpc>
                <a:spcPct val="115000"/>
              </a:lnSpc>
              <a:spcAft>
                <a:spcPts val="800"/>
              </a:spcAft>
              <a:buNone/>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Strength: It can find useful passages even when the question uses different wording.</a:t>
            </a:r>
          </a:p>
          <a:p>
            <a:pPr marL="0" marR="0">
              <a:lnSpc>
                <a:spcPct val="115000"/>
              </a:lnSpc>
              <a:spcAft>
                <a:spcPts val="800"/>
              </a:spcAft>
              <a:buNone/>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Limitation: It may miss evidence, and scanned PDFs may not work because the system does not use OCR.</a:t>
            </a:r>
          </a:p>
        </p:txBody>
      </p:sp>
      <p:pic>
        <p:nvPicPr>
          <p:cNvPr id="21" name="Picture 20">
            <a:extLst>
              <a:ext uri="{FF2B5EF4-FFF2-40B4-BE49-F238E27FC236}">
                <a16:creationId xmlns:a16="http://schemas.microsoft.com/office/drawing/2014/main" id="{07D5A51D-4629-A038-B284-F86D5AABBB87}"/>
              </a:ext>
            </a:extLst>
          </p:cNvPr>
          <p:cNvPicPr>
            <a:picLocks noChangeAspect="1"/>
          </p:cNvPicPr>
          <p:nvPr/>
        </p:nvPicPr>
        <p:blipFill>
          <a:blip r:embed="rId3"/>
          <a:stretch>
            <a:fillRect/>
          </a:stretch>
        </p:blipFill>
        <p:spPr>
          <a:xfrm>
            <a:off x="581114" y="3601588"/>
            <a:ext cx="11029772" cy="3021868"/>
          </a:xfrm>
          <a:prstGeom prst="rect">
            <a:avLst/>
          </a:prstGeom>
        </p:spPr>
      </p:pic>
      <p:cxnSp>
        <p:nvCxnSpPr>
          <p:cNvPr id="2" name="Straight Connector 1">
            <a:extLst>
              <a:ext uri="{FF2B5EF4-FFF2-40B4-BE49-F238E27FC236}">
                <a16:creationId xmlns:a16="http://schemas.microsoft.com/office/drawing/2014/main" id="{71F4337F-3D3A-F0A3-11C0-5F3E85FB4A03}"/>
              </a:ext>
            </a:extLst>
          </p:cNvPr>
          <p:cNvCxnSpPr>
            <a:cxnSpLocks/>
          </p:cNvCxnSpPr>
          <p:nvPr/>
        </p:nvCxnSpPr>
        <p:spPr>
          <a:xfrm>
            <a:off x="639337" y="3865757"/>
            <a:ext cx="672790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153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C92D5CD-CEED-CAF9-8E1C-650675A313C3}"/>
              </a:ext>
            </a:extLst>
          </p:cNvPr>
          <p:cNvSpPr txBox="1"/>
          <p:nvPr/>
        </p:nvSpPr>
        <p:spPr>
          <a:xfrm>
            <a:off x="2985477" y="131374"/>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Engineering Decisions</a:t>
            </a:r>
          </a:p>
        </p:txBody>
      </p:sp>
      <p:graphicFrame>
        <p:nvGraphicFramePr>
          <p:cNvPr id="2" name="Table 1">
            <a:extLst>
              <a:ext uri="{FF2B5EF4-FFF2-40B4-BE49-F238E27FC236}">
                <a16:creationId xmlns:a16="http://schemas.microsoft.com/office/drawing/2014/main" id="{1EF481B7-D8CC-DB98-52BC-581E0EBBE604}"/>
              </a:ext>
            </a:extLst>
          </p:cNvPr>
          <p:cNvGraphicFramePr>
            <a:graphicFrameLocks noGrp="1"/>
          </p:cNvGraphicFramePr>
          <p:nvPr>
            <p:extLst>
              <p:ext uri="{D42A27DB-BD31-4B8C-83A1-F6EECF244321}">
                <p14:modId xmlns:p14="http://schemas.microsoft.com/office/powerpoint/2010/main" val="2443791861"/>
              </p:ext>
            </p:extLst>
          </p:nvPr>
        </p:nvGraphicFramePr>
        <p:xfrm>
          <a:off x="838200" y="958106"/>
          <a:ext cx="10515600" cy="3840480"/>
        </p:xfrm>
        <a:graphic>
          <a:graphicData uri="http://schemas.openxmlformats.org/drawingml/2006/table">
            <a:tbl>
              <a:tblPr/>
              <a:tblGrid>
                <a:gridCol w="3505200">
                  <a:extLst>
                    <a:ext uri="{9D8B030D-6E8A-4147-A177-3AD203B41FA5}">
                      <a16:colId xmlns:a16="http://schemas.microsoft.com/office/drawing/2014/main" val="3712340017"/>
                    </a:ext>
                  </a:extLst>
                </a:gridCol>
                <a:gridCol w="3505200">
                  <a:extLst>
                    <a:ext uri="{9D8B030D-6E8A-4147-A177-3AD203B41FA5}">
                      <a16:colId xmlns:a16="http://schemas.microsoft.com/office/drawing/2014/main" val="4213176452"/>
                    </a:ext>
                  </a:extLst>
                </a:gridCol>
                <a:gridCol w="3505200">
                  <a:extLst>
                    <a:ext uri="{9D8B030D-6E8A-4147-A177-3AD203B41FA5}">
                      <a16:colId xmlns:a16="http://schemas.microsoft.com/office/drawing/2014/main" val="1230748185"/>
                    </a:ext>
                  </a:extLst>
                </a:gridCol>
              </a:tblGrid>
              <a:tr h="0">
                <a:tc>
                  <a:txBody>
                    <a:bodyPr/>
                    <a:lstStyle/>
                    <a:p>
                      <a:pPr>
                        <a:buNone/>
                      </a:pPr>
                      <a:r>
                        <a:rPr lang="en-US">
                          <a:effectLst/>
                        </a:rPr>
                        <a:t>Decision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dirty="0">
                          <a:effectLst/>
                        </a:rPr>
                        <a:t>Why It Was Chosen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dirty="0">
                          <a:effectLst/>
                        </a:rPr>
                        <a:t>Trade-Off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34356173"/>
                  </a:ext>
                </a:extLst>
              </a:tr>
              <a:tr h="0">
                <a:tc>
                  <a:txBody>
                    <a:bodyPr/>
                    <a:lstStyle/>
                    <a:p>
                      <a:pPr>
                        <a:buNone/>
                      </a:pPr>
                      <a:r>
                        <a:rPr lang="en-US" b="1" dirty="0">
                          <a:effectLst/>
                        </a:rPr>
                        <a:t>Page-A</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Preserves paper title and page number, enabling traceable citations.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Tables, figures, and scanned PDFs require OCR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055454962"/>
                  </a:ext>
                </a:extLst>
              </a:tr>
              <a:tr h="0">
                <a:tc>
                  <a:txBody>
                    <a:bodyPr/>
                    <a:lstStyle/>
                    <a:p>
                      <a:pPr>
                        <a:buNone/>
                      </a:pPr>
                      <a:r>
                        <a:rPr lang="en-US" b="1">
                          <a:effectLst/>
                        </a:rPr>
                        <a:t>Hybrid Retrieval (BM25 + Vector Search)</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Combines keyword matching with semantic search to improve evidence retrieval.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More complex than using a single retrieval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788659"/>
                  </a:ext>
                </a:extLst>
              </a:tr>
              <a:tr h="0">
                <a:tc>
                  <a:txBody>
                    <a:bodyPr/>
                    <a:lstStyle/>
                    <a:p>
                      <a:pPr>
                        <a:buNone/>
                      </a:pPr>
                      <a:r>
                        <a:rPr lang="en-US" b="1">
                          <a:effectLst/>
                        </a:rPr>
                        <a:t>Top-5 Evidence Selection</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Reduces prompt size and improves response speed.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Some relevant evidence may be excluded.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739854213"/>
                  </a:ext>
                </a:extLst>
              </a:tr>
              <a:tr h="0">
                <a:tc>
                  <a:txBody>
                    <a:bodyPr/>
                    <a:lstStyle/>
                    <a:p>
                      <a:pPr>
                        <a:buNone/>
                      </a:pPr>
                      <a:r>
                        <a:rPr lang="en-US" b="1">
                          <a:effectLst/>
                        </a:rPr>
                        <a:t>5-Agent Iteration Limit</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Controls latency and token consumption.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Additional reasoning opportunities are 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67834039"/>
                  </a:ext>
                </a:extLst>
              </a:tr>
              <a:tr h="0">
                <a:tc>
                  <a:txBody>
                    <a:bodyPr/>
                    <a:lstStyle/>
                    <a:p>
                      <a:pPr>
                        <a:buNone/>
                      </a:pPr>
                      <a:r>
                        <a:rPr lang="en-US" b="1">
                          <a:effectLst/>
                        </a:rPr>
                        <a:t>Persistent Chroma Index</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Avoids reprocessing and re-embedding unchanged documents.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Index must be rebuilt when the document collection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252420581"/>
                  </a:ext>
                </a:extLst>
              </a:tr>
              <a:tr h="0">
                <a:tc>
                  <a:txBody>
                    <a:bodyPr/>
                    <a:lstStyle/>
                    <a:p>
                      <a:pPr>
                        <a:buNone/>
                      </a:pPr>
                      <a:r>
                        <a:rPr lang="en-US" b="1">
                          <a:effectLst/>
                        </a:rPr>
                        <a:t>PDF Validation Pipeline</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Verifies extraction quality, metadata accuracy, and chunk consistency before indexing.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dirty="0">
                          <a:effectLst/>
                        </a:rPr>
                        <a:t>Adds preprocessing time but improves retrieval reliability.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34128290"/>
                  </a:ext>
                </a:extLst>
              </a:tr>
            </a:tbl>
          </a:graphicData>
        </a:graphic>
      </p:graphicFrame>
    </p:spTree>
    <p:extLst>
      <p:ext uri="{BB962C8B-B14F-4D97-AF65-F5344CB8AC3E}">
        <p14:creationId xmlns:p14="http://schemas.microsoft.com/office/powerpoint/2010/main" val="684907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8822D8-D529-2998-D46B-41BB9F87B091}"/>
              </a:ext>
            </a:extLst>
          </p:cNvPr>
          <p:cNvSpPr txBox="1"/>
          <p:nvPr/>
        </p:nvSpPr>
        <p:spPr>
          <a:xfrm>
            <a:off x="2938585" y="0"/>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Limitations and Future Improvements</a:t>
            </a:r>
          </a:p>
        </p:txBody>
      </p:sp>
      <p:graphicFrame>
        <p:nvGraphicFramePr>
          <p:cNvPr id="2" name="Table 1">
            <a:extLst>
              <a:ext uri="{FF2B5EF4-FFF2-40B4-BE49-F238E27FC236}">
                <a16:creationId xmlns:a16="http://schemas.microsoft.com/office/drawing/2014/main" id="{64369B0F-01E0-7D59-13FA-E9890550F36A}"/>
              </a:ext>
            </a:extLst>
          </p:cNvPr>
          <p:cNvGraphicFramePr>
            <a:graphicFrameLocks noGrp="1"/>
          </p:cNvGraphicFramePr>
          <p:nvPr>
            <p:extLst>
              <p:ext uri="{D42A27DB-BD31-4B8C-83A1-F6EECF244321}">
                <p14:modId xmlns:p14="http://schemas.microsoft.com/office/powerpoint/2010/main" val="4280395790"/>
              </p:ext>
            </p:extLst>
          </p:nvPr>
        </p:nvGraphicFramePr>
        <p:xfrm>
          <a:off x="726393" y="1343869"/>
          <a:ext cx="10517992" cy="3322320"/>
        </p:xfrm>
        <a:graphic>
          <a:graphicData uri="http://schemas.openxmlformats.org/drawingml/2006/table">
            <a:tbl>
              <a:tblPr/>
              <a:tblGrid>
                <a:gridCol w="3507592">
                  <a:extLst>
                    <a:ext uri="{9D8B030D-6E8A-4147-A177-3AD203B41FA5}">
                      <a16:colId xmlns:a16="http://schemas.microsoft.com/office/drawing/2014/main" val="1921261843"/>
                    </a:ext>
                  </a:extLst>
                </a:gridCol>
                <a:gridCol w="3505200">
                  <a:extLst>
                    <a:ext uri="{9D8B030D-6E8A-4147-A177-3AD203B41FA5}">
                      <a16:colId xmlns:a16="http://schemas.microsoft.com/office/drawing/2014/main" val="2229811448"/>
                    </a:ext>
                  </a:extLst>
                </a:gridCol>
                <a:gridCol w="3505200">
                  <a:extLst>
                    <a:ext uri="{9D8B030D-6E8A-4147-A177-3AD203B41FA5}">
                      <a16:colId xmlns:a16="http://schemas.microsoft.com/office/drawing/2014/main" val="3154370437"/>
                    </a:ext>
                  </a:extLst>
                </a:gridCol>
              </a:tblGrid>
              <a:tr h="0">
                <a:tc>
                  <a:txBody>
                    <a:bodyPr/>
                    <a:lstStyle/>
                    <a:p>
                      <a:pPr>
                        <a:buNone/>
                      </a:pPr>
                      <a:r>
                        <a:rPr lang="en-US" b="1" dirty="0">
                          <a:effectLst/>
                        </a:rPr>
                        <a:t>Current 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a:buNone/>
                      </a:pPr>
                      <a:r>
                        <a:rPr lang="en-US" b="1" dirty="0">
                          <a:effectLst/>
                        </a:rPr>
                        <a:t>Key Risks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a:buNone/>
                      </a:pPr>
                      <a:r>
                        <a:rPr lang="en-US" b="1" dirty="0">
                          <a:effectLst/>
                        </a:rPr>
                        <a:t>Future Enhancements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162524955"/>
                  </a:ext>
                </a:extLst>
              </a:tr>
              <a:tr h="0">
                <a:tc>
                  <a:txBody>
                    <a:bodyPr/>
                    <a:lstStyle/>
                    <a:p>
                      <a:pPr fontAlgn="t">
                        <a:lnSpc>
                          <a:spcPts val="1500"/>
                        </a:lnSpc>
                        <a:buNone/>
                      </a:pPr>
                      <a:r>
                        <a:rPr lang="en-US" b="0" i="0" dirty="0">
                          <a:effectLst/>
                          <a:latin typeface="Segoe UI" panose="020B0502040204020203" pitchFamily="34" charset="0"/>
                        </a:rPr>
                        <a:t>Retrieval parameters are fixed and not yet optimized through benchmarking. </a:t>
                      </a:r>
                      <a:r>
                        <a:rPr lang="en-US" b="0" i="0" dirty="0" err="1">
                          <a:effectLst/>
                          <a:latin typeface="Segoe UI" panose="020B0502040204020203" pitchFamily="34" charset="0"/>
                        </a:rPr>
                        <a:t>Difuculties</a:t>
                      </a:r>
                      <a:r>
                        <a:rPr lang="en-US" b="0" i="0" dirty="0">
                          <a:effectLst/>
                          <a:latin typeface="Segoe UI" panose="020B0502040204020203" pitchFamily="34" charset="0"/>
                        </a:rPr>
                        <a:t>  in PDF  conversion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r>
                        <a:rPr lang="en-US" sz="1400" b="0" i="0" u="none" strike="noStrike" cap="none" dirty="0">
                          <a:solidFill>
                            <a:schemeClr val="tx1"/>
                          </a:solidFill>
                          <a:effectLst/>
                          <a:latin typeface="Segoe UI" panose="020B0502040204020203" pitchFamily="34" charset="0"/>
                          <a:ea typeface="+mn-ea"/>
                          <a:cs typeface="+mn-cs"/>
                          <a:sym typeface="Arial"/>
                        </a:rPr>
                        <a:t>Broad comparison questions may require more evidence than the current context window allows.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fontAlgn="t">
                        <a:lnSpc>
                          <a:spcPts val="1500"/>
                        </a:lnSpc>
                        <a:buNone/>
                      </a:pPr>
                      <a:r>
                        <a:rPr lang="en-US" b="0" i="0" dirty="0">
                          <a:effectLst/>
                          <a:latin typeface="Segoe UI" panose="020B0502040204020203" pitchFamily="34" charset="0"/>
                        </a:rPr>
                        <a:t>Add layout-aware extraction for tables, figures, and complex document structures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46707577"/>
                  </a:ext>
                </a:extLst>
              </a:tr>
              <a:tr h="0">
                <a:tc>
                  <a:txBody>
                    <a:bodyPr/>
                    <a:lstStyle/>
                    <a:p>
                      <a:pPr>
                        <a:buNone/>
                      </a:pPr>
                      <a:r>
                        <a:rPr lang="en-US">
                          <a:effectLst/>
                        </a:rPr>
                        <a:t>Fixed chunking strategy and retrieval weights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a:buNone/>
                      </a:pPr>
                      <a:r>
                        <a:rPr lang="en-US" dirty="0">
                          <a:effectLst/>
                        </a:rPr>
                        <a:t>Broad comparison questions may require more evidence than the current context window provides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a:buNone/>
                      </a:pPr>
                      <a:r>
                        <a:rPr lang="en-US" dirty="0">
                          <a:effectLst/>
                        </a:rPr>
                        <a:t>Retrieval tuning and adaptive chunking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3989074284"/>
                  </a:ext>
                </a:extLst>
              </a:tr>
              <a:tr h="0">
                <a:tc>
                  <a:txBody>
                    <a:bodyPr/>
                    <a:lstStyle/>
                    <a:p>
                      <a:pPr>
                        <a:buNone/>
                      </a:pPr>
                      <a:r>
                        <a:rPr lang="en-US">
                          <a:effectLst/>
                        </a:rPr>
                        <a:t>Citations are generated but not independently verified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a:buNone/>
                      </a:pPr>
                      <a:r>
                        <a:rPr lang="en-US">
                          <a:effectLst/>
                        </a:rPr>
                        <a:t>Citations may not always fully support generated claims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a:buNone/>
                      </a:pPr>
                      <a:r>
                        <a:rPr lang="en-US" dirty="0">
                          <a:effectLst/>
                        </a:rPr>
                        <a:t>Automated citation verification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3857586322"/>
                  </a:ext>
                </a:extLst>
              </a:tr>
              <a:tr h="0">
                <a:tc>
                  <a:txBody>
                    <a:bodyPr/>
                    <a:lstStyle/>
                    <a:p>
                      <a:pPr>
                        <a:buNone/>
                      </a:pPr>
                      <a:r>
                        <a:rPr lang="en-US" dirty="0">
                          <a:effectLst/>
                        </a:rPr>
                        <a:t>Evaluation is primarily qualitative and not benchmark-driven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a:buNone/>
                      </a:pPr>
                      <a:r>
                        <a:rPr lang="en-US">
                          <a:effectLst/>
                        </a:rPr>
                        <a:t>Retrieval quality and answer accuracy are not systematically measured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a:buNone/>
                      </a:pPr>
                      <a:r>
                        <a:rPr lang="en-US" dirty="0">
                          <a:effectLst/>
                        </a:rPr>
                        <a:t>Labeled evaluation dataset and </a:t>
                      </a:r>
                    </a:p>
                    <a:p>
                      <a:pPr>
                        <a:buNone/>
                      </a:pPr>
                      <a:r>
                        <a:rPr lang="en-US" dirty="0">
                          <a:effectLst/>
                        </a:rPr>
                        <a:t>Benchmark 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2595471876"/>
                  </a:ext>
                </a:extLst>
              </a:tr>
              <a:tr h="0">
                <a:tc>
                  <a:txBody>
                    <a:bodyPr/>
                    <a:lstStyle/>
                    <a:p>
                      <a:pPr>
                        <a:buNone/>
                      </a:pPr>
                      <a:r>
                        <a:rPr lang="en-US" dirty="0">
                          <a:effectLst/>
                        </a:rPr>
                        <a:t>No OCR support for scanned PDFs, tables, or figures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a:buNone/>
                      </a:pPr>
                      <a:r>
                        <a:rPr lang="en-US" dirty="0">
                          <a:effectLst/>
                        </a:rPr>
                        <a:t>Relevant evidence may not be included in the retrieved chunks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a:buNone/>
                      </a:pPr>
                      <a:r>
                        <a:rPr lang="en-US" dirty="0">
                          <a:effectLst/>
                        </a:rPr>
                        <a:t>OCR and layout-aware document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2957738660"/>
                  </a:ext>
                </a:extLst>
              </a:tr>
            </a:tbl>
          </a:graphicData>
        </a:graphic>
      </p:graphicFrame>
    </p:spTree>
    <p:extLst>
      <p:ext uri="{BB962C8B-B14F-4D97-AF65-F5344CB8AC3E}">
        <p14:creationId xmlns:p14="http://schemas.microsoft.com/office/powerpoint/2010/main" val="2040043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D4D79E-8A1B-6AD4-9C4D-1221375A7641}"/>
              </a:ext>
            </a:extLst>
          </p:cNvPr>
          <p:cNvPicPr>
            <a:picLocks noChangeAspect="1"/>
          </p:cNvPicPr>
          <p:nvPr/>
        </p:nvPicPr>
        <p:blipFill>
          <a:blip r:embed="rId2"/>
          <a:stretch>
            <a:fillRect/>
          </a:stretch>
        </p:blipFill>
        <p:spPr>
          <a:xfrm>
            <a:off x="0" y="655617"/>
            <a:ext cx="12192000" cy="5888598"/>
          </a:xfrm>
          <a:prstGeom prst="rect">
            <a:avLst/>
          </a:prstGeom>
        </p:spPr>
      </p:pic>
      <p:sp>
        <p:nvSpPr>
          <p:cNvPr id="4" name="TextBox 3">
            <a:extLst>
              <a:ext uri="{FF2B5EF4-FFF2-40B4-BE49-F238E27FC236}">
                <a16:creationId xmlns:a16="http://schemas.microsoft.com/office/drawing/2014/main" id="{C3251140-F50A-5414-A4FF-8E147D8FD178}"/>
              </a:ext>
            </a:extLst>
          </p:cNvPr>
          <p:cNvSpPr txBox="1"/>
          <p:nvPr/>
        </p:nvSpPr>
        <p:spPr>
          <a:xfrm>
            <a:off x="2774534" y="-16191"/>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Example </a:t>
            </a:r>
          </a:p>
        </p:txBody>
      </p:sp>
      <p:cxnSp>
        <p:nvCxnSpPr>
          <p:cNvPr id="2" name="Straight Connector 1">
            <a:extLst>
              <a:ext uri="{FF2B5EF4-FFF2-40B4-BE49-F238E27FC236}">
                <a16:creationId xmlns:a16="http://schemas.microsoft.com/office/drawing/2014/main" id="{568276E5-A068-FBDD-E7C9-C85E7438B0D1}"/>
              </a:ext>
            </a:extLst>
          </p:cNvPr>
          <p:cNvCxnSpPr>
            <a:cxnSpLocks/>
          </p:cNvCxnSpPr>
          <p:nvPr/>
        </p:nvCxnSpPr>
        <p:spPr>
          <a:xfrm>
            <a:off x="81776" y="884663"/>
            <a:ext cx="938189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6616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498A35-061E-9F2F-BC0A-EAE6CD3A12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6D71280-308A-7111-835C-435C4F6397A2}"/>
              </a:ext>
            </a:extLst>
          </p:cNvPr>
          <p:cNvSpPr txBox="1"/>
          <p:nvPr/>
        </p:nvSpPr>
        <p:spPr>
          <a:xfrm>
            <a:off x="2774534" y="-16191"/>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Example of Version </a:t>
            </a:r>
          </a:p>
        </p:txBody>
      </p:sp>
      <p:pic>
        <p:nvPicPr>
          <p:cNvPr id="5" name="Picture 4">
            <a:extLst>
              <a:ext uri="{FF2B5EF4-FFF2-40B4-BE49-F238E27FC236}">
                <a16:creationId xmlns:a16="http://schemas.microsoft.com/office/drawing/2014/main" id="{7C55465D-2759-4A8D-233D-3084DBB4A91D}"/>
              </a:ext>
            </a:extLst>
          </p:cNvPr>
          <p:cNvPicPr>
            <a:picLocks noChangeAspect="1"/>
          </p:cNvPicPr>
          <p:nvPr/>
        </p:nvPicPr>
        <p:blipFill>
          <a:blip r:embed="rId2"/>
          <a:stretch>
            <a:fillRect/>
          </a:stretch>
        </p:blipFill>
        <p:spPr>
          <a:xfrm>
            <a:off x="104047" y="435493"/>
            <a:ext cx="5892354" cy="5764138"/>
          </a:xfrm>
          <a:prstGeom prst="rect">
            <a:avLst/>
          </a:prstGeom>
        </p:spPr>
      </p:pic>
      <p:pic>
        <p:nvPicPr>
          <p:cNvPr id="7" name="Picture 6">
            <a:extLst>
              <a:ext uri="{FF2B5EF4-FFF2-40B4-BE49-F238E27FC236}">
                <a16:creationId xmlns:a16="http://schemas.microsoft.com/office/drawing/2014/main" id="{82B8FB70-7C79-67C5-181E-3DACF5DCAEF8}"/>
              </a:ext>
            </a:extLst>
          </p:cNvPr>
          <p:cNvPicPr>
            <a:picLocks noChangeAspect="1"/>
          </p:cNvPicPr>
          <p:nvPr/>
        </p:nvPicPr>
        <p:blipFill>
          <a:blip r:embed="rId3"/>
          <a:stretch>
            <a:fillRect/>
          </a:stretch>
        </p:blipFill>
        <p:spPr>
          <a:xfrm>
            <a:off x="5996401" y="435493"/>
            <a:ext cx="6096000" cy="6071444"/>
          </a:xfrm>
          <a:prstGeom prst="rect">
            <a:avLst/>
          </a:prstGeom>
        </p:spPr>
      </p:pic>
    </p:spTree>
    <p:extLst>
      <p:ext uri="{BB962C8B-B14F-4D97-AF65-F5344CB8AC3E}">
        <p14:creationId xmlns:p14="http://schemas.microsoft.com/office/powerpoint/2010/main" val="2941576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5FCB8E-E0CD-ABCB-94AA-0510965DDF97}"/>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3634447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0254CD-0903-966C-40EF-C5EBA490158C}"/>
              </a:ext>
            </a:extLst>
          </p:cNvPr>
          <p:cNvSpPr txBox="1"/>
          <p:nvPr/>
        </p:nvSpPr>
        <p:spPr>
          <a:xfrm>
            <a:off x="707571" y="1497600"/>
            <a:ext cx="9143999" cy="2308324"/>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endParaRPr lang="en-IN" dirty="0"/>
          </a:p>
          <a:p>
            <a:pPr algn="l"/>
            <a:r>
              <a:rPr lang="en-US" sz="2000" b="0" dirty="0">
                <a:solidFill>
                  <a:schemeClr val="tx1"/>
                </a:solidFill>
              </a:rPr>
              <a:t>Thank you!</a:t>
            </a:r>
          </a:p>
          <a:p>
            <a:pPr marL="285750" indent="-285750" algn="l">
              <a:buFont typeface="Arial" panose="020B0604020202020204" pitchFamily="34" charset="0"/>
              <a:buChar char="•"/>
            </a:pPr>
            <a:endParaRPr lang="en-US" sz="2000" b="0" dirty="0">
              <a:solidFill>
                <a:schemeClr val="tx1"/>
              </a:solidFill>
            </a:endParaRPr>
          </a:p>
          <a:p>
            <a:pPr algn="l"/>
            <a:endParaRPr lang="en-US" sz="2000" b="0" dirty="0">
              <a:solidFill>
                <a:schemeClr val="tx1"/>
              </a:solidFill>
            </a:endParaRPr>
          </a:p>
          <a:p>
            <a:pPr algn="l"/>
            <a:br>
              <a:rPr lang="en-IN" dirty="0"/>
            </a:br>
            <a:endParaRPr lang="en-IN" dirty="0"/>
          </a:p>
        </p:txBody>
      </p:sp>
      <p:sp>
        <p:nvSpPr>
          <p:cNvPr id="5" name="TextBox 4">
            <a:extLst>
              <a:ext uri="{FF2B5EF4-FFF2-40B4-BE49-F238E27FC236}">
                <a16:creationId xmlns:a16="http://schemas.microsoft.com/office/drawing/2014/main" id="{7FE4D497-87C5-39D6-FAF0-4FE272E0EB7E}"/>
              </a:ext>
            </a:extLst>
          </p:cNvPr>
          <p:cNvSpPr txBox="1"/>
          <p:nvPr/>
        </p:nvSpPr>
        <p:spPr>
          <a:xfrm>
            <a:off x="3048000" y="608112"/>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Questions</a:t>
            </a:r>
          </a:p>
        </p:txBody>
      </p:sp>
    </p:spTree>
    <p:extLst>
      <p:ext uri="{BB962C8B-B14F-4D97-AF65-F5344CB8AC3E}">
        <p14:creationId xmlns:p14="http://schemas.microsoft.com/office/powerpoint/2010/main" val="3937486198"/>
      </p:ext>
    </p:extLst>
  </p:cSld>
  <p:clrMapOvr>
    <a:masterClrMapping/>
  </p:clrMapOvr>
</p:sld>
</file>

<file path=ppt/theme/theme1.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2249</Words>
  <Application>Microsoft Office PowerPoint</Application>
  <PresentationFormat>Widescreen</PresentationFormat>
  <Paragraphs>159</Paragraphs>
  <Slides>12</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Segoe UI</vt:lpstr>
      <vt:lpstr>Times New Roman</vt:lpstr>
      <vt:lpstr>1_MIT 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 Shilpiya</dc:creator>
  <cp:lastModifiedBy>Ojer Paz Montiel</cp:lastModifiedBy>
  <cp:revision>15</cp:revision>
  <dcterms:created xsi:type="dcterms:W3CDTF">2018-11-05T13:58:18Z</dcterms:created>
  <dcterms:modified xsi:type="dcterms:W3CDTF">2026-10-15T23:05:35Z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0x010100296DC331548237488BA9A87C5C22BBA4</vt:lpwstr>
  </property>
  <property fmtid="{D5CDD505-2E9C-101B-9397-08002B2CF9AE}" pid="3" name="ArticulateGUID">
    <vt:lpwstr>405BEB8A-A8B9-422E-86C1-391F774E521D</vt:lpwstr>
  </property>
  <property fmtid="{D5CDD505-2E9C-101B-9397-08002B2CF9AE}" pid="4" name="ArticulatePath">
    <vt:lpwstr>MIT_xPRO_PPT_Template</vt:lpwstr>
  </property>
</Properties>
</file>